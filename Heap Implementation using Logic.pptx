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E7FF-1BB0-DA40-124B-E2CDC3A7B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3889E-DB29-4B4E-F56A-518AD7B9D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B7C1E-3E9D-C8DE-3897-E700B96F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0055A-72B7-30EF-216C-4E27A818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2EA97-1CD6-23E7-C7FC-71DD772A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3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1FC5-D845-B0FB-3782-DBBD22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24F19-3668-7B0D-6288-BFB023BFE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A26D5-B7A1-F968-4E58-691C6736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9439-68B4-9FBA-4C10-A1D3459A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1D420-A8FA-63B6-9F0B-468E7FDE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4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3424-C80B-0869-7D3A-68D45BDE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EEEFB-897A-E2FC-E775-392D4E6FE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D4372-F59D-3D35-F8E8-6EF91C1F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CEC15-3A33-7BCE-CFFF-14C2B178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00F14-9176-1E04-22C5-9DD28247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5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91A1-5CEE-5551-7D66-794E11BF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C3CEA-8138-C9D6-BA9A-FA722BA60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1167C-C516-5290-3781-BFD2C1E59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3744F-23D1-81F9-B4BD-AA3E0D87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B9DAD-6D8D-3160-B756-309DBC11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E730D-8EC5-4FEC-75B5-D8A79D08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9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9945-B902-DE05-283B-60F46F8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9748B-BA08-7E3D-D4F5-859643397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E6DD2-67CA-2D55-3EF5-0A10888DB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8F7F6-878C-6AF0-287D-BF9B14D3B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AE657-680D-3241-976A-50CE746A2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E497B-00A7-863B-B300-BCBBFB982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2C9081-920A-8F96-AEA8-7F4301D0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7EF90-A561-89D7-610F-CEA808418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6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5D372-9528-A9EA-9E72-CB28BAA8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70382E-A07D-5572-0868-CC60835F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96BA1-870E-0E9A-CECF-2330BAAB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0F87D-C087-402D-38F0-FD9A6460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0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AE5999-5499-4AD3-8DC8-73F745AA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774C92-46A7-AFF3-319A-E1C7826E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E9B75-4636-C483-AE2C-2F9FFA8AE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5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8B2A-35A1-4908-6E7C-834483D1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0CA7-7649-F06B-0AB4-717A6D90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E89D7-9099-FCDA-F7A9-9EB3CFD38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C15D6-3626-26BB-5CDD-64C9877F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2EC4-517C-7426-D5B6-4498B802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26606-ACE7-C6C3-5A1E-88CF47AA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5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89EA-7125-D4D0-C373-7CFFD1F4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E57E7-EFC3-7579-8417-14C0425BE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756E2-BE99-AA10-3694-143162C7C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ED43A-E8D2-F994-42F7-B8F70268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03BBB-A641-948B-97DD-8625F30E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C4115-2640-652F-81E5-D5AF11B4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0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5674-AEB6-4D2B-C0CF-111558D1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E93A8-AFF6-E8A4-0BE5-59FD4D810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1344-14A4-7CE3-C499-AB188EA4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78B51-B7AF-1F43-796A-F08914BD1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D2E30-223B-CFC0-FDD0-59DF6049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91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4E9B27-79A2-7579-CDE3-82B828D08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EB092-D8C4-E454-5D5D-43821595C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7B705-69E4-5FA5-5FC9-83D6359A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C01C-DB74-7BA1-F348-728CAF50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F8B75-4677-44D6-D9C9-ADC5E534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2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E620A-AEFC-79CE-8092-374CE0634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D94BE-5825-11EA-E7BC-767412C3C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0EFE6-DCFA-8A1C-A9F1-1159BEAF7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E84CE-7425-43DC-8215-8EF583FB0B2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457BA-8070-D934-A0A8-AC6B4FCD7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8CF9D-3ABE-4A72-050E-10A82D18F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CADB1-EB44-4812-A458-D00D096E6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0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62C3-E87E-C495-3661-72D76C4BC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Heap Implementation</a:t>
            </a:r>
            <a:br>
              <a:rPr lang="en-US" dirty="0"/>
            </a:br>
            <a:r>
              <a:rPr lang="en-US" dirty="0"/>
              <a:t> Using   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04D078-B837-44A8-3786-F3DD659E7D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Course:</a:t>
            </a:r>
            <a:r>
              <a:rPr lang="en-US" dirty="0"/>
              <a:t> Data Structures &amp; Algorithms  </a:t>
            </a:r>
            <a:br>
              <a:rPr lang="en-US" dirty="0"/>
            </a:br>
            <a:r>
              <a:rPr lang="en-US" b="1" dirty="0"/>
              <a:t>Semester:</a:t>
            </a:r>
            <a:r>
              <a:rPr lang="en-US" dirty="0"/>
              <a:t> BSIT – 3rd</a:t>
            </a:r>
            <a:br>
              <a:rPr lang="en-US" dirty="0"/>
            </a:br>
            <a:r>
              <a:rPr lang="en-US" b="1" dirty="0"/>
              <a:t>University:</a:t>
            </a:r>
            <a:r>
              <a:rPr lang="en-US" dirty="0"/>
              <a:t> Leads University, Lahore</a:t>
            </a:r>
            <a:br>
              <a:rPr lang="en-US" dirty="0"/>
            </a:br>
            <a:r>
              <a:rPr lang="en-US" b="1" dirty="0"/>
              <a:t>Instructor:</a:t>
            </a:r>
            <a:r>
              <a:rPr lang="en-US" dirty="0"/>
              <a:t> </a:t>
            </a:r>
            <a:r>
              <a:rPr lang="en-US" i="1" dirty="0"/>
              <a:t>Sir Adnan Majeed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0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C484-964A-4338-4480-024AE74C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00E10-4527-CDCD-01A9-15E39AE1E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demonstrate how </a:t>
            </a:r>
            <a:r>
              <a:rPr lang="en-US" b="1" dirty="0"/>
              <a:t>Heap Data Structure</a:t>
            </a:r>
            <a:r>
              <a:rPr lang="en-US" dirty="0"/>
              <a:t> and </a:t>
            </a:r>
            <a:r>
              <a:rPr lang="en-US" b="1" dirty="0"/>
              <a:t>Discrete Mathematical Logic</a:t>
            </a:r>
            <a:r>
              <a:rPr lang="en-US" dirty="0"/>
              <a:t> can be combined to create a </a:t>
            </a:r>
            <a:r>
              <a:rPr lang="en-US" b="1" dirty="0"/>
              <a:t>real-world decision-making algorithm</a:t>
            </a:r>
            <a:r>
              <a:rPr lang="en-US" dirty="0"/>
              <a:t> — for example, </a:t>
            </a:r>
            <a:r>
              <a:rPr lang="en-US" b="1" dirty="0"/>
              <a:t>selecting the best candidate</a:t>
            </a:r>
            <a:r>
              <a:rPr lang="en-US" dirty="0"/>
              <a:t> for a Software Engineer position based on multiple criteria.</a:t>
            </a:r>
          </a:p>
        </p:txBody>
      </p:sp>
    </p:spTree>
    <p:extLst>
      <p:ext uri="{BB962C8B-B14F-4D97-AF65-F5344CB8AC3E}">
        <p14:creationId xmlns:p14="http://schemas.microsoft.com/office/powerpoint/2010/main" val="52995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EE92-E191-6B4A-C4B8-47B5DA51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Theoretical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D05B-C473-C1C6-8B40-FBB26D03A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Heap Overview</a:t>
            </a:r>
          </a:p>
          <a:p>
            <a:r>
              <a:rPr lang="en-US" dirty="0"/>
              <a:t>A </a:t>
            </a:r>
            <a:r>
              <a:rPr lang="en-US" b="1" dirty="0"/>
              <a:t>Heap</a:t>
            </a:r>
            <a:r>
              <a:rPr lang="en-US" dirty="0"/>
              <a:t> is a </a:t>
            </a:r>
            <a:r>
              <a:rPr lang="en-US" b="1" dirty="0"/>
              <a:t>complete binary tree</a:t>
            </a:r>
            <a:r>
              <a:rPr lang="en-US" dirty="0"/>
              <a:t> that satisfies the </a:t>
            </a:r>
            <a:r>
              <a:rPr lang="en-US" b="1" dirty="0"/>
              <a:t>heap property</a:t>
            </a:r>
            <a:r>
              <a:rPr lang="en-US" dirty="0"/>
              <a:t>:</a:t>
            </a:r>
          </a:p>
          <a:p>
            <a:r>
              <a:rPr lang="en-US" b="1" dirty="0"/>
              <a:t>Max Heap:</a:t>
            </a:r>
            <a:r>
              <a:rPr lang="en-US" dirty="0"/>
              <a:t> Each parent ≥ its children</a:t>
            </a:r>
          </a:p>
          <a:p>
            <a:r>
              <a:rPr lang="en-US" b="1" dirty="0"/>
              <a:t>Min Heap:</a:t>
            </a:r>
            <a:r>
              <a:rPr lang="en-US" dirty="0"/>
              <a:t> Each parent ≤ its children</a:t>
            </a:r>
          </a:p>
          <a:p>
            <a:r>
              <a:rPr lang="en-US" dirty="0"/>
              <a:t>Heaps are primarily used in:</a:t>
            </a:r>
          </a:p>
          <a:p>
            <a:r>
              <a:rPr lang="en-US" b="1" dirty="0"/>
              <a:t>Priority Queues</a:t>
            </a:r>
            <a:endParaRPr lang="en-US" dirty="0"/>
          </a:p>
          <a:p>
            <a:r>
              <a:rPr lang="en-US" b="1" dirty="0"/>
              <a:t>Scheduling Algorithms</a:t>
            </a:r>
            <a:endParaRPr lang="en-US" dirty="0"/>
          </a:p>
          <a:p>
            <a:r>
              <a:rPr lang="en-US" b="1" dirty="0"/>
              <a:t>Heap Sort</a:t>
            </a:r>
            <a:endParaRPr lang="en-US" dirty="0"/>
          </a:p>
          <a:p>
            <a:r>
              <a:rPr lang="en-US" b="1" dirty="0"/>
              <a:t>Resource Management</a:t>
            </a:r>
            <a:endParaRPr lang="en-US" dirty="0"/>
          </a:p>
          <a:p>
            <a:r>
              <a:rPr lang="en-US" b="1" dirty="0"/>
              <a:t>Key Property:</a:t>
            </a:r>
            <a:br>
              <a:rPr lang="en-US" dirty="0"/>
            </a:br>
            <a:r>
              <a:rPr lang="en-US" dirty="0"/>
              <a:t>In a Max Heap, the </a:t>
            </a:r>
            <a:r>
              <a:rPr lang="en-US" b="1" dirty="0"/>
              <a:t>root node</a:t>
            </a:r>
            <a:r>
              <a:rPr lang="en-US" dirty="0"/>
              <a:t> always contains the </a:t>
            </a:r>
            <a:r>
              <a:rPr lang="en-US" b="1" dirty="0"/>
              <a:t>maximum priority element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7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52F73-C721-A255-91E0-190E4E62C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Discrete Mathematics Integration</a:t>
            </a:r>
          </a:p>
          <a:p>
            <a:r>
              <a:rPr lang="en-US" dirty="0"/>
              <a:t>Discrete Mathematics uses </a:t>
            </a:r>
            <a:r>
              <a:rPr lang="en-US" b="1" dirty="0"/>
              <a:t>logical expressions</a:t>
            </a:r>
            <a:r>
              <a:rPr lang="en-US" dirty="0"/>
              <a:t> to make decisions.</a:t>
            </a:r>
            <a:br>
              <a:rPr lang="en-US" dirty="0"/>
            </a:br>
            <a:r>
              <a:rPr lang="en-US" dirty="0"/>
              <a:t>Here, we use </a:t>
            </a:r>
            <a:r>
              <a:rPr lang="en-US" b="1" dirty="0"/>
              <a:t>propositional logic</a:t>
            </a:r>
            <a:r>
              <a:rPr lang="en-US" dirty="0"/>
              <a:t> to define candidate eligibility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1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C2B9F-41EC-CEA0-6C59-E02C6F12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4282"/>
            <a:ext cx="10515600" cy="5082681"/>
          </a:xfrm>
        </p:spPr>
        <p:txBody>
          <a:bodyPr>
            <a:normAutofit/>
          </a:bodyPr>
          <a:lstStyle/>
          <a:p>
            <a:r>
              <a:rPr lang="en-US" b="1" dirty="0"/>
              <a:t>Discrete Logic for Candidate Selection</a:t>
            </a:r>
          </a:p>
          <a:p>
            <a:r>
              <a:rPr lang="en-US" dirty="0"/>
              <a:t>Each candidate is represented by attributes:</a:t>
            </a:r>
          </a:p>
          <a:p>
            <a:r>
              <a:rPr lang="en-US" dirty="0"/>
              <a:t>G = GPA</a:t>
            </a:r>
          </a:p>
          <a:p>
            <a:r>
              <a:rPr lang="en-US" dirty="0"/>
              <a:t>E = Experience (in years)</a:t>
            </a:r>
          </a:p>
          <a:p>
            <a:r>
              <a:rPr lang="en-US" dirty="0"/>
              <a:t>T = Programming Test Score</a:t>
            </a:r>
          </a:p>
          <a:p>
            <a:r>
              <a:rPr lang="en-US" dirty="0"/>
              <a:t>I = Interview Score</a:t>
            </a:r>
          </a:p>
          <a:p>
            <a:r>
              <a:rPr lang="en-US" b="1" dirty="0"/>
              <a:t>Logical Formula:</a:t>
            </a:r>
          </a:p>
          <a:p>
            <a:r>
              <a:rPr lang="en-US" dirty="0"/>
              <a:t>A candidate C is </a:t>
            </a:r>
            <a:r>
              <a:rPr lang="en-US" b="1" dirty="0"/>
              <a:t>eligible</a:t>
            </a:r>
            <a:r>
              <a:rPr lang="en-US" dirty="0"/>
              <a:t> if:</a:t>
            </a:r>
            <a:br>
              <a:rPr lang="en-US" dirty="0"/>
            </a:br>
            <a:r>
              <a:rPr lang="en-US" b="1" dirty="0"/>
              <a:t>(G ≥ 3.0) ∧ (T ≥ 70) ∧ [(E ≥ 1) ∨ (I ≥ 60)]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F3A119-3321-5753-3E84-2FCD36727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1885231"/>
              </p:ext>
            </p:extLst>
          </p:nvPr>
        </p:nvGraphicFramePr>
        <p:xfrm>
          <a:off x="838200" y="1139252"/>
          <a:ext cx="10515600" cy="292200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452343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7018275"/>
                    </a:ext>
                  </a:extLst>
                </a:gridCol>
              </a:tblGrid>
              <a:tr h="58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037999"/>
                  </a:ext>
                </a:extLst>
              </a:tr>
              <a:tr h="58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280327"/>
                  </a:ext>
                </a:extLst>
              </a:tr>
              <a:tr h="58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 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49448"/>
                  </a:ext>
                </a:extLst>
              </a:tr>
              <a:tr h="58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199495"/>
                  </a:ext>
                </a:extLst>
              </a:tr>
              <a:tr h="58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Implies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8315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A334E6-521A-B2D4-2176-3E2D9A268EDF}"/>
              </a:ext>
            </a:extLst>
          </p:cNvPr>
          <p:cNvSpPr txBox="1"/>
          <p:nvPr/>
        </p:nvSpPr>
        <p:spPr>
          <a:xfrm>
            <a:off x="2432155" y="5275661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logic ensures candidates are selected </a:t>
            </a:r>
            <a:r>
              <a:rPr lang="en-US" b="1" dirty="0"/>
              <a:t>based on academic, technical, and communication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686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3253-3417-6127-8644-9E06714F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B4A-A4FA-96EC-1F14-C3B788CCC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house wants to hire </a:t>
            </a:r>
            <a:r>
              <a:rPr lang="en-US" b="1" dirty="0"/>
              <a:t>1 Software Engineer</a:t>
            </a:r>
            <a:r>
              <a:rPr lang="en-US" dirty="0"/>
              <a:t> from </a:t>
            </a:r>
            <a:r>
              <a:rPr lang="en-US" b="1" dirty="0"/>
              <a:t>10 candidates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Each candidate has scores in GPA, experience, test, and interview.</a:t>
            </a:r>
          </a:p>
          <a:p>
            <a:r>
              <a:rPr lang="en-US" dirty="0"/>
              <a:t>We use:</a:t>
            </a:r>
          </a:p>
          <a:p>
            <a:r>
              <a:rPr lang="en-US" b="1" dirty="0"/>
              <a:t>Discrete logic</a:t>
            </a:r>
            <a:r>
              <a:rPr lang="en-US" dirty="0"/>
              <a:t> → to filter </a:t>
            </a:r>
            <a:r>
              <a:rPr lang="en-US" b="1" dirty="0"/>
              <a:t>eligible</a:t>
            </a:r>
            <a:r>
              <a:rPr lang="en-US" dirty="0"/>
              <a:t> candidates</a:t>
            </a:r>
          </a:p>
          <a:p>
            <a:r>
              <a:rPr lang="en-US" b="1" dirty="0"/>
              <a:t>Heap data structure</a:t>
            </a:r>
            <a:r>
              <a:rPr lang="en-US" dirty="0"/>
              <a:t> → to pick </a:t>
            </a:r>
            <a:r>
              <a:rPr lang="en-US" b="1" dirty="0"/>
              <a:t>highest priority (best)</a:t>
            </a:r>
            <a:r>
              <a:rPr lang="en-US" dirty="0"/>
              <a:t> candidate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04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85DD-3196-3A94-F1C0-BE9170C93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9DB96-5413-2774-BEDF-90DDB8AAF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Algorithm: </a:t>
            </a:r>
            <a:r>
              <a:rPr lang="en-US" b="1" dirty="0" err="1"/>
              <a:t>Candidate_Selection_Heap</a:t>
            </a:r>
            <a:r>
              <a:rPr lang="en-US" b="1" dirty="0"/>
              <a:t>()</a:t>
            </a:r>
          </a:p>
          <a:p>
            <a:r>
              <a:rPr lang="en-US" b="1" dirty="0"/>
              <a:t>Input:</a:t>
            </a:r>
            <a:r>
              <a:rPr lang="en-US" dirty="0"/>
              <a:t> 10 candidates with (Name, GPA, Experience, Test, Interview).</a:t>
            </a:r>
          </a:p>
          <a:p>
            <a:r>
              <a:rPr lang="en-US" b="1" dirty="0"/>
              <a:t>For each candidate:</a:t>
            </a:r>
            <a:endParaRPr lang="en-US" dirty="0"/>
          </a:p>
          <a:p>
            <a:pPr lvl="1"/>
            <a:r>
              <a:rPr lang="en-US" dirty="0"/>
              <a:t>Evaluate logic:</a:t>
            </a:r>
            <a:br>
              <a:rPr lang="en-US" dirty="0"/>
            </a:br>
            <a:r>
              <a:rPr lang="en-US" dirty="0"/>
              <a:t>(G ≥ 3.0) ∧ (T ≥ 70) ∧ [(E ≥ 1) ∨ (I ≥ 60)]</a:t>
            </a:r>
          </a:p>
          <a:p>
            <a:pPr lvl="1"/>
            <a:r>
              <a:rPr lang="en-US" dirty="0"/>
              <a:t>If True → Insert into </a:t>
            </a:r>
            <a:r>
              <a:rPr lang="en-US" b="1" dirty="0"/>
              <a:t>Max Heap</a:t>
            </a:r>
            <a:endParaRPr lang="en-US" dirty="0"/>
          </a:p>
          <a:p>
            <a:pPr lvl="1"/>
            <a:r>
              <a:rPr lang="en-US" dirty="0"/>
              <a:t>If False → Reject</a:t>
            </a:r>
          </a:p>
          <a:p>
            <a:r>
              <a:rPr lang="en-US" b="1" dirty="0"/>
              <a:t>Build heap</a:t>
            </a:r>
            <a:r>
              <a:rPr lang="en-US" dirty="0"/>
              <a:t> based on overall weighted priority.</a:t>
            </a:r>
          </a:p>
          <a:p>
            <a:r>
              <a:rPr lang="en-US" b="1" dirty="0"/>
              <a:t>Extract Max</a:t>
            </a:r>
            <a:r>
              <a:rPr lang="en-US" dirty="0"/>
              <a:t> → Candidate with highest score is selected.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88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54CAA-C941-0F96-7E38-0F3BADFB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4FE9-B1C4-6C14-0170-237DFF995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Candidate: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name, </a:t>
            </a:r>
            <a:r>
              <a:rPr lang="en-US" dirty="0" err="1"/>
              <a:t>gpa</a:t>
            </a:r>
            <a:r>
              <a:rPr lang="en-US" dirty="0"/>
              <a:t>, exp, test, interview):</a:t>
            </a:r>
          </a:p>
          <a:p>
            <a:pPr marL="0" indent="0">
              <a:buNone/>
            </a:pPr>
            <a:r>
              <a:rPr lang="en-US" dirty="0"/>
              <a:t>        self.name = name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self.gpa</a:t>
            </a:r>
            <a:r>
              <a:rPr lang="en-US" dirty="0"/>
              <a:t> = </a:t>
            </a:r>
            <a:r>
              <a:rPr lang="en-US" dirty="0" err="1"/>
              <a:t>gpa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self.exp</a:t>
            </a:r>
            <a:r>
              <a:rPr lang="en-US" dirty="0"/>
              <a:t> = exp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self.test</a:t>
            </a:r>
            <a:r>
              <a:rPr lang="en-US" dirty="0"/>
              <a:t> = test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self.interview</a:t>
            </a:r>
            <a:r>
              <a:rPr lang="en-US" dirty="0"/>
              <a:t> = interview</a:t>
            </a:r>
          </a:p>
          <a:p>
            <a:pPr marL="0" indent="0">
              <a:buNone/>
            </a:pPr>
            <a:r>
              <a:rPr lang="en-US" dirty="0"/>
              <a:t>        # Weighted total score (priority value)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self.priority</a:t>
            </a:r>
            <a:r>
              <a:rPr lang="en-US" dirty="0"/>
              <a:t> = (</a:t>
            </a:r>
            <a:r>
              <a:rPr lang="en-US" dirty="0" err="1"/>
              <a:t>gpa</a:t>
            </a:r>
            <a:r>
              <a:rPr lang="en-US" dirty="0"/>
              <a:t> * 30) + (exp * 25) + (test * 0.30) + (interview * 0.15)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repr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return f"{self.name} (Priority: {self.priority:.2f})"</a:t>
            </a:r>
          </a:p>
        </p:txBody>
      </p:sp>
    </p:spTree>
    <p:extLst>
      <p:ext uri="{BB962C8B-B14F-4D97-AF65-F5344CB8AC3E}">
        <p14:creationId xmlns:p14="http://schemas.microsoft.com/office/powerpoint/2010/main" val="13805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64BBB-ABC7-9D72-E7A4-16ECFA1D1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4538"/>
            <a:ext cx="10515600" cy="54724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MaxHeap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self.heap</a:t>
            </a:r>
            <a:r>
              <a:rPr lang="en-US" dirty="0"/>
              <a:t> = []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parent(self, </a:t>
            </a:r>
            <a:r>
              <a:rPr lang="en-US" dirty="0" err="1"/>
              <a:t>i</a:t>
            </a:r>
            <a:r>
              <a:rPr lang="en-US" dirty="0"/>
              <a:t>): return (</a:t>
            </a:r>
            <a:r>
              <a:rPr lang="en-US" dirty="0" err="1"/>
              <a:t>i</a:t>
            </a:r>
            <a:r>
              <a:rPr lang="en-US" dirty="0"/>
              <a:t> - 1) // 2</a:t>
            </a:r>
          </a:p>
          <a:p>
            <a:pPr marL="0" indent="0">
              <a:buNone/>
            </a:pPr>
            <a:r>
              <a:rPr lang="en-US" dirty="0"/>
              <a:t>    def left(self, </a:t>
            </a:r>
            <a:r>
              <a:rPr lang="en-US" dirty="0" err="1"/>
              <a:t>i</a:t>
            </a:r>
            <a:r>
              <a:rPr lang="en-US" dirty="0"/>
              <a:t>): return 2 * </a:t>
            </a:r>
            <a:r>
              <a:rPr lang="en-US" dirty="0" err="1"/>
              <a:t>i</a:t>
            </a:r>
            <a:r>
              <a:rPr lang="en-US" dirty="0"/>
              <a:t> + 1</a:t>
            </a:r>
          </a:p>
          <a:p>
            <a:pPr marL="0" indent="0">
              <a:buNone/>
            </a:pPr>
            <a:r>
              <a:rPr lang="en-US" dirty="0"/>
              <a:t>    def right(self, </a:t>
            </a:r>
            <a:r>
              <a:rPr lang="en-US" dirty="0" err="1"/>
              <a:t>i</a:t>
            </a:r>
            <a:r>
              <a:rPr lang="en-US" dirty="0"/>
              <a:t>): return 2 * </a:t>
            </a:r>
            <a:r>
              <a:rPr lang="en-US" dirty="0" err="1"/>
              <a:t>i</a:t>
            </a:r>
            <a:r>
              <a:rPr lang="en-US" dirty="0"/>
              <a:t> + 2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insert(self, candidate):</a:t>
            </a:r>
          </a:p>
          <a:p>
            <a:pPr marL="0" indent="0">
              <a:buNone/>
            </a:pPr>
            <a:r>
              <a:rPr lang="en-US" dirty="0"/>
              <a:t>        """Insert if Discrete Logic holds True"""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candidate.gpa</a:t>
            </a:r>
            <a:r>
              <a:rPr lang="en-US" dirty="0"/>
              <a:t> &gt;= 3.0) and (</a:t>
            </a:r>
            <a:r>
              <a:rPr lang="en-US" dirty="0" err="1"/>
              <a:t>candidate.test</a:t>
            </a:r>
            <a:r>
              <a:rPr lang="en-US" dirty="0"/>
              <a:t> &gt;= 70) and \</a:t>
            </a:r>
          </a:p>
          <a:p>
            <a:pPr marL="0" indent="0">
              <a:buNone/>
            </a:pPr>
            <a:r>
              <a:rPr lang="en-US" dirty="0"/>
              <a:t>           ((</a:t>
            </a:r>
            <a:r>
              <a:rPr lang="en-US" dirty="0" err="1"/>
              <a:t>candidate.exp</a:t>
            </a:r>
            <a:r>
              <a:rPr lang="en-US" dirty="0"/>
              <a:t> &gt;= 1) or (</a:t>
            </a:r>
            <a:r>
              <a:rPr lang="en-US" dirty="0" err="1"/>
              <a:t>candidate.interview</a:t>
            </a:r>
            <a:r>
              <a:rPr lang="en-US" dirty="0"/>
              <a:t> &gt;= 60)):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self.heap.append</a:t>
            </a:r>
            <a:r>
              <a:rPr lang="en-US" dirty="0"/>
              <a:t>(candidate)</a:t>
            </a:r>
          </a:p>
          <a:p>
            <a:pPr marL="0" indent="0">
              <a:buNone/>
            </a:pPr>
            <a:r>
              <a:rPr lang="en-US" dirty="0"/>
              <a:t>            self._</a:t>
            </a:r>
            <a:r>
              <a:rPr lang="en-US" dirty="0" err="1"/>
              <a:t>heapify_up</a:t>
            </a:r>
            <a:r>
              <a:rPr lang="en-US" dirty="0"/>
              <a:t>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self.heap</a:t>
            </a:r>
            <a:r>
              <a:rPr lang="en-US" dirty="0"/>
              <a:t>) - 1)</a:t>
            </a:r>
          </a:p>
          <a:p>
            <a:pPr marL="0" indent="0">
              <a:buNone/>
            </a:pPr>
            <a:r>
              <a:rPr lang="en-US" dirty="0"/>
              <a:t>        else:</a:t>
            </a:r>
          </a:p>
          <a:p>
            <a:pPr marL="0" indent="0">
              <a:buNone/>
            </a:pPr>
            <a:r>
              <a:rPr lang="en-US" dirty="0"/>
              <a:t>            print(f"❌ {candidate.name} rejected (Logic failed).")</a:t>
            </a:r>
          </a:p>
        </p:txBody>
      </p:sp>
    </p:spTree>
    <p:extLst>
      <p:ext uri="{BB962C8B-B14F-4D97-AF65-F5344CB8AC3E}">
        <p14:creationId xmlns:p14="http://schemas.microsoft.com/office/powerpoint/2010/main" val="376118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792E-6E3A-A048-0B6B-A66442CFE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607"/>
            <a:ext cx="10515600" cy="55773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def _</a:t>
            </a:r>
            <a:r>
              <a:rPr lang="en-US" dirty="0" err="1"/>
              <a:t>heapify_up</a:t>
            </a:r>
            <a:r>
              <a:rPr lang="en-US" dirty="0"/>
              <a:t>(self, </a:t>
            </a:r>
            <a:r>
              <a:rPr lang="en-US" dirty="0" err="1"/>
              <a:t>i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    while </a:t>
            </a:r>
            <a:r>
              <a:rPr lang="en-US" dirty="0" err="1"/>
              <a:t>i</a:t>
            </a:r>
            <a:r>
              <a:rPr lang="en-US" dirty="0"/>
              <a:t> &gt; 0 and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self.parent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)].priority &lt;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].priority: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self.parent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)] =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self.parent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)],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self.parent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extract_max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if not </a:t>
            </a:r>
            <a:r>
              <a:rPr lang="en-US" dirty="0" err="1"/>
              <a:t>self.heap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return None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self.heap</a:t>
            </a:r>
            <a:r>
              <a:rPr lang="en-US" dirty="0"/>
              <a:t>) == 1:</a:t>
            </a:r>
          </a:p>
          <a:p>
            <a:pPr marL="0" indent="0">
              <a:buNone/>
            </a:pPr>
            <a:r>
              <a:rPr lang="en-US" dirty="0"/>
              <a:t>            return </a:t>
            </a:r>
            <a:r>
              <a:rPr lang="en-US" dirty="0" err="1"/>
              <a:t>self.heap.pop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root = </a:t>
            </a:r>
            <a:r>
              <a:rPr lang="en-US" dirty="0" err="1"/>
              <a:t>self.heap</a:t>
            </a:r>
            <a:r>
              <a:rPr lang="en-US" dirty="0"/>
              <a:t>[0]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self.heap</a:t>
            </a:r>
            <a:r>
              <a:rPr lang="en-US" dirty="0"/>
              <a:t>[0] = </a:t>
            </a:r>
            <a:r>
              <a:rPr lang="en-US" dirty="0" err="1"/>
              <a:t>self.heap.pop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self._</a:t>
            </a:r>
            <a:r>
              <a:rPr lang="en-US" dirty="0" err="1"/>
              <a:t>heapify_down</a:t>
            </a:r>
            <a:r>
              <a:rPr lang="en-US" dirty="0"/>
              <a:t>(0)</a:t>
            </a:r>
          </a:p>
          <a:p>
            <a:pPr marL="0" indent="0">
              <a:buNone/>
            </a:pPr>
            <a:r>
              <a:rPr lang="en-US" dirty="0"/>
              <a:t>        return root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67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5B305-D1CA-13DA-3502-DDF6062BF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626"/>
            <a:ext cx="10515600" cy="56073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def _</a:t>
            </a:r>
            <a:r>
              <a:rPr lang="en-US" dirty="0" err="1"/>
              <a:t>heapify_down</a:t>
            </a:r>
            <a:r>
              <a:rPr lang="en-US" dirty="0"/>
              <a:t>(self, </a:t>
            </a:r>
            <a:r>
              <a:rPr lang="en-US" dirty="0" err="1"/>
              <a:t>i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    largest = </a:t>
            </a:r>
            <a:r>
              <a:rPr lang="en-US" dirty="0" err="1"/>
              <a:t>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left, right = </a:t>
            </a:r>
            <a:r>
              <a:rPr lang="en-US" dirty="0" err="1"/>
              <a:t>self.left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), </a:t>
            </a:r>
            <a:r>
              <a:rPr lang="en-US" dirty="0" err="1"/>
              <a:t>self.right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left &lt;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self.heap</a:t>
            </a:r>
            <a:r>
              <a:rPr lang="en-US" dirty="0"/>
              <a:t>) and </a:t>
            </a:r>
            <a:r>
              <a:rPr lang="en-US" dirty="0" err="1"/>
              <a:t>self.heap</a:t>
            </a:r>
            <a:r>
              <a:rPr lang="en-US" dirty="0"/>
              <a:t>[left].priority &gt; </a:t>
            </a:r>
            <a:r>
              <a:rPr lang="en-US" dirty="0" err="1"/>
              <a:t>self.heap</a:t>
            </a:r>
            <a:r>
              <a:rPr lang="en-US" dirty="0"/>
              <a:t>[largest].priority:</a:t>
            </a:r>
          </a:p>
          <a:p>
            <a:pPr marL="0" indent="0">
              <a:buNone/>
            </a:pPr>
            <a:r>
              <a:rPr lang="en-US" dirty="0"/>
              <a:t>            largest = left</a:t>
            </a:r>
          </a:p>
          <a:p>
            <a:pPr marL="0" indent="0">
              <a:buNone/>
            </a:pPr>
            <a:r>
              <a:rPr lang="en-US" dirty="0"/>
              <a:t>        if right &lt;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self.heap</a:t>
            </a:r>
            <a:r>
              <a:rPr lang="en-US" dirty="0"/>
              <a:t>) and </a:t>
            </a:r>
            <a:r>
              <a:rPr lang="en-US" dirty="0" err="1"/>
              <a:t>self.heap</a:t>
            </a:r>
            <a:r>
              <a:rPr lang="en-US" dirty="0"/>
              <a:t>[right].priority &gt; </a:t>
            </a:r>
            <a:r>
              <a:rPr lang="en-US" dirty="0" err="1"/>
              <a:t>self.heap</a:t>
            </a:r>
            <a:r>
              <a:rPr lang="en-US" dirty="0"/>
              <a:t>[largest].priority:</a:t>
            </a:r>
          </a:p>
          <a:p>
            <a:pPr marL="0" indent="0">
              <a:buNone/>
            </a:pPr>
            <a:r>
              <a:rPr lang="en-US" dirty="0"/>
              <a:t>            largest = right</a:t>
            </a:r>
          </a:p>
          <a:p>
            <a:pPr marL="0" indent="0">
              <a:buNone/>
            </a:pPr>
            <a:r>
              <a:rPr lang="en-US" dirty="0"/>
              <a:t>        if largest != i: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self.heap</a:t>
            </a:r>
            <a:r>
              <a:rPr lang="en-US" dirty="0"/>
              <a:t>[largest] = </a:t>
            </a:r>
            <a:r>
              <a:rPr lang="en-US" dirty="0" err="1"/>
              <a:t>self.heap</a:t>
            </a:r>
            <a:r>
              <a:rPr lang="en-US" dirty="0"/>
              <a:t>[largest], </a:t>
            </a:r>
            <a:r>
              <a:rPr lang="en-US" dirty="0" err="1"/>
              <a:t>self.heap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            self._</a:t>
            </a:r>
            <a:r>
              <a:rPr lang="en-US" dirty="0" err="1"/>
              <a:t>heapify_down</a:t>
            </a:r>
            <a:r>
              <a:rPr lang="en-US" dirty="0"/>
              <a:t>(largest)</a:t>
            </a:r>
          </a:p>
        </p:txBody>
      </p:sp>
    </p:spTree>
    <p:extLst>
      <p:ext uri="{BB962C8B-B14F-4D97-AF65-F5344CB8AC3E}">
        <p14:creationId xmlns:p14="http://schemas.microsoft.com/office/powerpoint/2010/main" val="313378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97766-0DCF-56E5-4D5A-5140B502A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4597"/>
            <a:ext cx="10515600" cy="55623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def display(self):</a:t>
            </a:r>
          </a:p>
          <a:p>
            <a:pPr marL="0" indent="0">
              <a:buNone/>
            </a:pPr>
            <a:r>
              <a:rPr lang="en-US" dirty="0"/>
              <a:t>        print("\n📊 Candidates in Heap:")</a:t>
            </a:r>
          </a:p>
          <a:p>
            <a:pPr marL="0" indent="0">
              <a:buNone/>
            </a:pPr>
            <a:r>
              <a:rPr lang="en-US" dirty="0"/>
              <a:t>        for c in </a:t>
            </a:r>
            <a:r>
              <a:rPr lang="en-US" dirty="0" err="1"/>
              <a:t>self.heap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print("  -", c)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069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0DDB5-BB02-2B66-613E-3152C30CA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4715"/>
            <a:ext cx="10515600" cy="574224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# Main Program</a:t>
            </a:r>
          </a:p>
          <a:p>
            <a:pPr marL="0" indent="0">
              <a:buNone/>
            </a:pPr>
            <a:r>
              <a:rPr lang="en-US" dirty="0"/>
              <a:t>if __name__ == "__main__":</a:t>
            </a:r>
          </a:p>
          <a:p>
            <a:pPr marL="0" indent="0">
              <a:buNone/>
            </a:pPr>
            <a:r>
              <a:rPr lang="en-US" dirty="0"/>
              <a:t>    heap = </a:t>
            </a:r>
            <a:r>
              <a:rPr lang="en-US" dirty="0" err="1"/>
              <a:t>MaxHeap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# 10 candidates</a:t>
            </a:r>
          </a:p>
          <a:p>
            <a:pPr marL="0" indent="0">
              <a:buNone/>
            </a:pPr>
            <a:r>
              <a:rPr lang="en-US" dirty="0"/>
              <a:t>    candidates = [</a:t>
            </a:r>
          </a:p>
          <a:p>
            <a:pPr marL="0" indent="0">
              <a:buNone/>
            </a:pPr>
            <a:r>
              <a:rPr lang="en-US" dirty="0"/>
              <a:t>        Candidate("Ali", 3.5, 2, 80, 70),</a:t>
            </a:r>
          </a:p>
          <a:p>
            <a:pPr marL="0" indent="0">
              <a:buNone/>
            </a:pPr>
            <a:r>
              <a:rPr lang="en-US" dirty="0"/>
              <a:t>        Candidate("Sara", 3.2, 1, 75, 60),</a:t>
            </a:r>
          </a:p>
          <a:p>
            <a:pPr marL="0" indent="0">
              <a:buNone/>
            </a:pPr>
            <a:r>
              <a:rPr lang="en-US" dirty="0"/>
              <a:t>        Candidate("Bilal", 2.8, 1, 85, 65),</a:t>
            </a:r>
          </a:p>
          <a:p>
            <a:pPr marL="0" indent="0">
              <a:buNone/>
            </a:pPr>
            <a:r>
              <a:rPr lang="en-US" dirty="0"/>
              <a:t>        Candidate("Hina", 3.6, 3, 90, 85),</a:t>
            </a:r>
          </a:p>
          <a:p>
            <a:pPr marL="0" indent="0">
              <a:buNone/>
            </a:pPr>
            <a:r>
              <a:rPr lang="en-US" dirty="0"/>
              <a:t>        Candidate("Zain", 3.0, 0, 95, 55),</a:t>
            </a:r>
          </a:p>
          <a:p>
            <a:pPr marL="0" indent="0">
              <a:buNone/>
            </a:pPr>
            <a:r>
              <a:rPr lang="en-US" dirty="0"/>
              <a:t>        Candidate("Usman", 3.8, 2, 88, 70),</a:t>
            </a:r>
          </a:p>
          <a:p>
            <a:pPr marL="0" indent="0">
              <a:buNone/>
            </a:pPr>
            <a:r>
              <a:rPr lang="en-US" dirty="0"/>
              <a:t>        Candidate("Kiran", 3.4, 1, 79, 68),</a:t>
            </a:r>
          </a:p>
          <a:p>
            <a:pPr marL="0" indent="0">
              <a:buNone/>
            </a:pPr>
            <a:r>
              <a:rPr lang="en-US" dirty="0"/>
              <a:t>        Candidate("Danish", 3.1, 2, 73, 62),</a:t>
            </a:r>
          </a:p>
          <a:p>
            <a:pPr marL="0" indent="0">
              <a:buNone/>
            </a:pPr>
            <a:r>
              <a:rPr lang="en-US" dirty="0"/>
              <a:t>        Candidate("Ayesha", 3.9, 4, 92, 88),</a:t>
            </a:r>
          </a:p>
          <a:p>
            <a:pPr marL="0" indent="0">
              <a:buNone/>
            </a:pPr>
            <a:r>
              <a:rPr lang="en-US" dirty="0"/>
              <a:t>        Candidate("Farhan", 2.9, 0, 60, 45)</a:t>
            </a:r>
          </a:p>
          <a:p>
            <a:pPr marL="0" indent="0">
              <a:buNone/>
            </a:pPr>
            <a:r>
              <a:rPr lang="en-US" dirty="0"/>
              <a:t>    ]</a:t>
            </a:r>
          </a:p>
        </p:txBody>
      </p:sp>
    </p:spTree>
    <p:extLst>
      <p:ext uri="{BB962C8B-B14F-4D97-AF65-F5344CB8AC3E}">
        <p14:creationId xmlns:p14="http://schemas.microsoft.com/office/powerpoint/2010/main" val="3227164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34EFE-BD21-6278-52CE-953CDE982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c in candidates: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heap.insert</a:t>
            </a:r>
            <a:r>
              <a:rPr lang="en-US" dirty="0"/>
              <a:t>(c)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heap.display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print("\n🏆 Selected Candidate:")</a:t>
            </a:r>
          </a:p>
          <a:p>
            <a:pPr marL="0" indent="0">
              <a:buNone/>
            </a:pPr>
            <a:r>
              <a:rPr lang="en-US" dirty="0"/>
              <a:t>    best = </a:t>
            </a:r>
            <a:r>
              <a:rPr lang="en-US" dirty="0" err="1"/>
              <a:t>heap.extract_max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print(f"✅ {best.name} selected with Priority {best.priority:.2f}")</a:t>
            </a:r>
          </a:p>
        </p:txBody>
      </p:sp>
    </p:spTree>
    <p:extLst>
      <p:ext uri="{BB962C8B-B14F-4D97-AF65-F5344CB8AC3E}">
        <p14:creationId xmlns:p14="http://schemas.microsoft.com/office/powerpoint/2010/main" val="1749653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3065-26F2-F460-BD68-B4BBBA98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245"/>
          </a:xfrm>
        </p:spPr>
        <p:txBody>
          <a:bodyPr>
            <a:normAutofit fontScale="90000"/>
          </a:bodyPr>
          <a:lstStyle/>
          <a:p>
            <a:r>
              <a:rPr lang="en-US" dirty="0"/>
              <a:t>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E8D2-69F0-6B4A-C091-73B481C6D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243"/>
            <a:ext cx="10515600" cy="502272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❌ Bilal rejected (Logic failed).</a:t>
            </a:r>
          </a:p>
          <a:p>
            <a:r>
              <a:rPr lang="en-US" dirty="0"/>
              <a:t>❌ Zain rejected (Logic failed).</a:t>
            </a:r>
          </a:p>
          <a:p>
            <a:r>
              <a:rPr lang="en-US" dirty="0"/>
              <a:t>❌ Farhan rejected (Logic failed).</a:t>
            </a:r>
          </a:p>
          <a:p>
            <a:endParaRPr lang="en-US" dirty="0"/>
          </a:p>
          <a:p>
            <a:r>
              <a:rPr lang="en-US" dirty="0"/>
              <a:t>📊 Candidates in Heap:</a:t>
            </a:r>
          </a:p>
          <a:p>
            <a:r>
              <a:rPr lang="en-US" dirty="0"/>
              <a:t>  - Hina (Priority: 13965.00)</a:t>
            </a:r>
          </a:p>
          <a:p>
            <a:r>
              <a:rPr lang="en-US" dirty="0"/>
              <a:t>  - Ayesha (Priority: 13940.00)</a:t>
            </a:r>
          </a:p>
          <a:p>
            <a:r>
              <a:rPr lang="en-US" dirty="0"/>
              <a:t>  - Usman (Priority: 13740.00)</a:t>
            </a:r>
          </a:p>
          <a:p>
            <a:r>
              <a:rPr lang="en-US" dirty="0"/>
              <a:t>  - Ali (Priority: 13600.00)</a:t>
            </a:r>
          </a:p>
          <a:p>
            <a:r>
              <a:rPr lang="en-US" dirty="0"/>
              <a:t>  - Kiran (Priority: 13500.00)</a:t>
            </a:r>
          </a:p>
          <a:p>
            <a:r>
              <a:rPr lang="en-US" dirty="0"/>
              <a:t>  - Danish (Priority: 13250.00)</a:t>
            </a:r>
          </a:p>
          <a:p>
            <a:r>
              <a:rPr lang="en-US" dirty="0"/>
              <a:t>  - Sara (Priority: 13120.00)</a:t>
            </a:r>
          </a:p>
          <a:p>
            <a:endParaRPr lang="en-US" dirty="0"/>
          </a:p>
          <a:p>
            <a:r>
              <a:rPr lang="en-US" dirty="0"/>
              <a:t>🏆 Selected Candidate:</a:t>
            </a:r>
          </a:p>
          <a:p>
            <a:r>
              <a:rPr lang="en-US" dirty="0"/>
              <a:t>✅ Hina selected with Priority 13965.00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54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07D1-8F52-A06F-0FA2-700E0B6E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</p:spPr>
        <p:txBody>
          <a:bodyPr/>
          <a:lstStyle/>
          <a:p>
            <a:r>
              <a:rPr lang="en-US" dirty="0"/>
              <a:t>Evaluation table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522CBE-4372-0D6D-7B71-DD5ED22C2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374772"/>
              </p:ext>
            </p:extLst>
          </p:nvPr>
        </p:nvGraphicFramePr>
        <p:xfrm>
          <a:off x="838200" y="1603948"/>
          <a:ext cx="10515600" cy="4409031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5676587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0525322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4867307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8996461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1177565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54037972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20552496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91390972"/>
                    </a:ext>
                  </a:extLst>
                </a:gridCol>
              </a:tblGrid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G≥3.0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T≥70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E≥1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I≥60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(E≥1∨I≥60)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Final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749334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954343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308161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Bilal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48528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082749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70111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298921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328217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Danish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85631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Ayesha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779220"/>
                  </a:ext>
                </a:extLst>
              </a:tr>
              <a:tr h="400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Farhan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55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626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486C-FA24-1001-BDC3-58B44A5B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C1171F-7E2D-0E11-2A4D-95F29940D7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448531"/>
              </p:ext>
            </p:extLst>
          </p:nvPr>
        </p:nvGraphicFramePr>
        <p:xfrm>
          <a:off x="838200" y="1992611"/>
          <a:ext cx="10515600" cy="245946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331522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17688072"/>
                    </a:ext>
                  </a:extLst>
                </a:gridCol>
              </a:tblGrid>
              <a:tr h="491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171146"/>
                  </a:ext>
                </a:extLst>
              </a:tr>
              <a:tr h="491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Insert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407992"/>
                  </a:ext>
                </a:extLst>
              </a:tr>
              <a:tr h="491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Delete (Extract Max)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708437"/>
                  </a:ext>
                </a:extLst>
              </a:tr>
              <a:tr h="491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Heapify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158374"/>
                  </a:ext>
                </a:extLst>
              </a:tr>
              <a:tr h="4918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Build Heap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38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26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86BA-CCC4-ED3D-BAC1-7E619C846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380"/>
            <a:ext cx="10515600" cy="523258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r>
              <a:rPr lang="en-US" b="1" dirty="0"/>
              <a:t>Priority Scheduling</a:t>
            </a:r>
            <a:endParaRPr lang="en-US" dirty="0"/>
          </a:p>
          <a:p>
            <a:r>
              <a:rPr lang="en-US" b="1" dirty="0"/>
              <a:t>Top-k Selection</a:t>
            </a:r>
            <a:endParaRPr lang="en-US" dirty="0"/>
          </a:p>
          <a:p>
            <a:r>
              <a:rPr lang="en-US" b="1" dirty="0"/>
              <a:t>Resource Allocation</a:t>
            </a:r>
            <a:endParaRPr lang="en-US" dirty="0"/>
          </a:p>
          <a:p>
            <a:r>
              <a:rPr lang="en-US" b="1" dirty="0"/>
              <a:t>Job Recruitment Systems</a:t>
            </a:r>
            <a:endParaRPr lang="en-US" dirty="0"/>
          </a:p>
          <a:p>
            <a:r>
              <a:rPr lang="en-US" b="1" dirty="0"/>
              <a:t>Performance Ranking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96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A91C6-6E99-7953-601A-86471C6C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Viva questions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6C75BD-F327-DA6A-D211-7900EF2823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474941"/>
              </p:ext>
            </p:extLst>
          </p:nvPr>
        </p:nvGraphicFramePr>
        <p:xfrm>
          <a:off x="838200" y="1690688"/>
          <a:ext cx="10515600" cy="3590769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206256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4312227"/>
                    </a:ext>
                  </a:extLst>
                </a:gridCol>
              </a:tblGrid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Answer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893131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is a heap?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complete binary tree satisfying the heap property.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753169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is the logic formula used?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(G≥3.0) ∧ (T≥70) ∧ [(E≥1) ∨ (I≥60)]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42739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Why use heap here?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 select candidate with highest weighted priority.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638965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data structure stores candidates?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 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443264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is the time complexity of insertion?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O(log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95247"/>
                  </a:ext>
                </a:extLst>
              </a:tr>
              <a:tr h="51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ensures fairness in selection?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Discrete Math Logic conditions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872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00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7AD7-9818-E71F-C436-97D66055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F885-DCA2-794A-02B0-1A559772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  <a:p>
            <a:r>
              <a:rPr lang="en-US" dirty="0"/>
              <a:t>Combined </a:t>
            </a:r>
            <a:r>
              <a:rPr lang="en-US" b="1" dirty="0"/>
              <a:t>Heap (Data Structure)</a:t>
            </a:r>
            <a:r>
              <a:rPr lang="en-US" dirty="0"/>
              <a:t> and </a:t>
            </a:r>
            <a:r>
              <a:rPr lang="en-US" b="1" dirty="0"/>
              <a:t>Propositional Logic (Discrete Math)</a:t>
            </a:r>
            <a:r>
              <a:rPr lang="en-US" dirty="0"/>
              <a:t>.</a:t>
            </a:r>
          </a:p>
          <a:p>
            <a:r>
              <a:rPr lang="en-US" dirty="0"/>
              <a:t>Filtered candidates logically using </a:t>
            </a:r>
            <a:r>
              <a:rPr lang="en-US" b="1" dirty="0"/>
              <a:t>truth table conditions</a:t>
            </a:r>
            <a:r>
              <a:rPr lang="en-US" dirty="0"/>
              <a:t>.</a:t>
            </a:r>
          </a:p>
          <a:p>
            <a:r>
              <a:rPr lang="en-US" dirty="0"/>
              <a:t>Selected the </a:t>
            </a:r>
            <a:r>
              <a:rPr lang="en-US" b="1" dirty="0"/>
              <a:t>best candidate</a:t>
            </a:r>
            <a:r>
              <a:rPr lang="en-US" dirty="0"/>
              <a:t> using </a:t>
            </a:r>
            <a:r>
              <a:rPr lang="en-US" b="1" dirty="0"/>
              <a:t>Max Heap</a:t>
            </a:r>
            <a:r>
              <a:rPr lang="en-US" dirty="0"/>
              <a:t> priority ranking.</a:t>
            </a:r>
          </a:p>
          <a:p>
            <a:r>
              <a:rPr lang="en-US" dirty="0"/>
              <a:t>Demonstrated </a:t>
            </a:r>
            <a:r>
              <a:rPr lang="en-US" b="1" dirty="0"/>
              <a:t>real-world HR decision logic</a:t>
            </a:r>
            <a:r>
              <a:rPr lang="en-US" dirty="0"/>
              <a:t> through programming.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79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1566</Words>
  <Application>Microsoft Office PowerPoint</Application>
  <PresentationFormat>Widescreen</PresentationFormat>
  <Paragraphs>275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Heap Implementation  Using    Logic</vt:lpstr>
      <vt:lpstr>Lecture Objective</vt:lpstr>
      <vt:lpstr>Theoretical Background</vt:lpstr>
      <vt:lpstr>PowerPoint Presentation</vt:lpstr>
      <vt:lpstr>PowerPoint Presentation</vt:lpstr>
      <vt:lpstr>PowerPoint Presentation</vt:lpstr>
      <vt:lpstr>Real-Life Scenario</vt:lpstr>
      <vt:lpstr>Algorithm Steps</vt:lpstr>
      <vt:lpstr>Python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</vt:lpstr>
      <vt:lpstr>Evaluation table </vt:lpstr>
      <vt:lpstr>Time complexity </vt:lpstr>
      <vt:lpstr>PowerPoint Presentation</vt:lpstr>
      <vt:lpstr>Viva questions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36</cp:revision>
  <dcterms:created xsi:type="dcterms:W3CDTF">2025-11-04T17:49:14Z</dcterms:created>
  <dcterms:modified xsi:type="dcterms:W3CDTF">2025-11-04T17:59:58Z</dcterms:modified>
</cp:coreProperties>
</file>