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2F01-6FE2-9C28-952B-7B196730A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7EF95-F194-541D-728D-C206FCFAB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53FBE-7AA1-5039-B357-9365FC860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4B4D-AF3E-4F7D-8D88-E1E44CE745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6D4A3-CDBD-A81F-9BCA-642F0177D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15ED8-46DA-8786-DE70-09FC4919A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C584E-9619-4412-A3E9-E4B311224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24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563E6-F057-90A3-B922-21CDFFC03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E85AD-6AF8-44F8-E66C-17C7AE120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C53B2-AD34-A96A-A418-01C6F8FF5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4B4D-AF3E-4F7D-8D88-E1E44CE745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A9D8D-8CC3-34EB-DF79-777762BEF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9F8A6-FD1D-F6D8-8880-327FEEA44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C584E-9619-4412-A3E9-E4B311224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1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487BD-FB18-6D3D-6BF5-54B575A48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9B018-074A-A582-0F3C-BBE0CB37B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BC93B-F59C-95B4-4D4B-B4E60C76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4B4D-AF3E-4F7D-8D88-E1E44CE745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8CC8A-194B-B361-F875-56B1286B1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0EBF7-95F0-7BCB-9734-F5C31E8C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C584E-9619-4412-A3E9-E4B311224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08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98D3A-82B4-A1EA-BE8E-DFCD07667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0312A-C488-2854-E7C0-55A62AD3DC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F3976-812E-D173-C988-617CDA784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6F80F-54C3-8B07-220D-FD65D9808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4B4D-AF3E-4F7D-8D88-E1E44CE745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89151-CC29-E6C4-07FD-AF0168824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0B763-7F26-1349-A3EA-ABA9A257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C584E-9619-4412-A3E9-E4B311224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3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87A5A-C6F5-34C8-ABF8-7A4223BCF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6B780-C3C6-510C-67E3-FAC4C6EC3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01C43-BBC9-451F-0E3C-F36703D98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0F9CD3-7F92-3A20-E3D1-612395AA70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5B0861-383D-D8BE-1B94-C92C58DDB3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EB2E0-EFBA-CBC9-CD0C-8FDD51434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4B4D-AF3E-4F7D-8D88-E1E44CE745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9F0A9-224C-D2C8-7664-4B87FBB3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A2CF5-C2EC-D5A4-3760-9A815CA4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C584E-9619-4412-A3E9-E4B311224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98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56942-4074-741F-A17E-D0AF02EC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23C879-63FE-A85D-0F3B-752EDCC0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4B4D-AF3E-4F7D-8D88-E1E44CE745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5BB730-1B6F-532B-F396-63564EA1B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1B0BB1-6E7A-C3C9-AEE4-EAEC93151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C584E-9619-4412-A3E9-E4B311224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88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EC492C-A666-11ED-8915-9058E09E0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4B4D-AF3E-4F7D-8D88-E1E44CE745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32274D-6AC2-9C70-3605-C1740C4C7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E067E-0B4F-CAEA-12A2-3B2CF6A99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C584E-9619-4412-A3E9-E4B311224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49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4B3F4-A5D1-E129-CDF9-5D48FD73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E4649-5BD9-0D98-7878-F29A3878A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D2252-CEA5-75DE-3FBC-6A359A52F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9FDB3-2A12-922C-EC0B-8CE929B25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4B4D-AF3E-4F7D-8D88-E1E44CE745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BB2AD-34E6-A6DE-95B4-68ABC8F5A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9D952-8BBF-385B-8145-EF5BE0838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C584E-9619-4412-A3E9-E4B311224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64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237F1-482B-FD33-6C0A-1DB8F26FD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42C3F4-6AF8-2212-63BD-910072CB54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E83FC-B0FE-90EC-9EC7-D647653EE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FC6EE-4968-859B-0C0B-B74898AB1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4B4D-AF3E-4F7D-8D88-E1E44CE745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71A0B-C314-A400-CD60-933245DBE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2C46E-EA77-9349-9C14-9C946BD6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C584E-9619-4412-A3E9-E4B311224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161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CBF4C-364F-28ED-7D5C-509C10124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5F6AA-B599-7CFD-2749-D6E6BFACF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7E7BC-2CD6-B6D7-D3B6-81565B18F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4B4D-AF3E-4F7D-8D88-E1E44CE745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4270D-A266-5FAF-3A53-23D9F9C2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161B7-8F75-B14C-3B48-D5FBA96E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C584E-9619-4412-A3E9-E4B311224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56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B5241D-40FF-6B94-82F3-26A8B299C8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76BD6-32B8-833C-A06B-B21E896DE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AA05-9C1D-219F-C599-466C18873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94B4D-AF3E-4F7D-8D88-E1E44CE745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BFA6C-93E3-B420-6A75-8F3383CBF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9749B-BFBE-BB4B-8333-2D3DC772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C584E-9619-4412-A3E9-E4B311224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8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08CC61-118B-D9EE-BB12-D1A4C86B9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4A1EE-AE21-EEA0-4238-25FB48D4C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449F9-C71B-1478-D080-792C125BB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94B4D-AF3E-4F7D-8D88-E1E44CE745F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7E0B2-A8A8-6213-F070-C87FDEB595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E86BE-9113-761C-AE94-F7D631437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C584E-9619-4412-A3E9-E4B311224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52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8A056-EBD0-50CF-9F26-B92A45783A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Stack Implementations (Array vs Linked List)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8F7864-0AE0-5A9D-8B60-7AFFC0559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Adnan Majeed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630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12D71-2235-40C1-15C4-EF1A0E898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Stack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B1C6A-35F4-FFED-4800-07B070414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r>
              <a:rPr lang="en-US" dirty="0"/>
              <a:t> A stack is a linear data structure that follows the </a:t>
            </a:r>
            <a:r>
              <a:rPr lang="en-US" b="1" dirty="0"/>
              <a:t>LIFO (Last In, First Out)</a:t>
            </a:r>
            <a:r>
              <a:rPr lang="en-US" dirty="0"/>
              <a:t> principle.</a:t>
            </a:r>
          </a:p>
          <a:p>
            <a:r>
              <a:rPr lang="en-US" b="1" dirty="0"/>
              <a:t>Basic Operations:</a:t>
            </a:r>
            <a:endParaRPr lang="en-US" dirty="0"/>
          </a:p>
          <a:p>
            <a:pPr lvl="1"/>
            <a:r>
              <a:rPr lang="en-US" dirty="0"/>
              <a:t>push(x) → Insert element at the top.</a:t>
            </a:r>
          </a:p>
          <a:p>
            <a:pPr lvl="1"/>
            <a:r>
              <a:rPr lang="en-US" dirty="0"/>
              <a:t>pop() → Remove element from the top.</a:t>
            </a:r>
          </a:p>
          <a:p>
            <a:pPr lvl="1"/>
            <a:r>
              <a:rPr lang="en-US" dirty="0"/>
              <a:t>peek()/top() → View the top element without removing.</a:t>
            </a:r>
          </a:p>
          <a:p>
            <a:pPr lvl="1"/>
            <a:r>
              <a:rPr lang="en-US" dirty="0" err="1"/>
              <a:t>isEmpty</a:t>
            </a:r>
            <a:r>
              <a:rPr lang="en-US" dirty="0"/>
              <a:t>() → Check if stack is empty.</a:t>
            </a:r>
          </a:p>
          <a:p>
            <a:pPr lvl="1"/>
            <a:r>
              <a:rPr lang="en-US" dirty="0" err="1"/>
              <a:t>isFull</a:t>
            </a:r>
            <a:r>
              <a:rPr lang="en-US" dirty="0"/>
              <a:t>() (for array implementation) → Check if stack is full.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25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F4464-F8DB-20C1-F93D-A262D6E2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Stack Implementation using Array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7BD04-2500-3278-61AA-C1D0E96CA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Characteristics</a:t>
            </a:r>
          </a:p>
          <a:p>
            <a:r>
              <a:rPr lang="en-US" b="1" dirty="0"/>
              <a:t>Fixed size</a:t>
            </a:r>
            <a:r>
              <a:rPr lang="en-US" dirty="0"/>
              <a:t> (unless using dynamic arrays).</a:t>
            </a:r>
          </a:p>
          <a:p>
            <a:r>
              <a:rPr lang="en-US" b="1" dirty="0"/>
              <a:t>Index-based access</a:t>
            </a:r>
            <a:r>
              <a:rPr lang="en-US" dirty="0"/>
              <a:t> (fast and simple).</a:t>
            </a:r>
          </a:p>
          <a:p>
            <a:r>
              <a:rPr lang="en-US" dirty="0"/>
              <a:t>Overflow possible if the stack is full.</a:t>
            </a:r>
          </a:p>
          <a:p>
            <a:r>
              <a:rPr lang="en-US" b="1" dirty="0"/>
              <a:t>Operations (Time Complexity)</a:t>
            </a:r>
          </a:p>
          <a:p>
            <a:r>
              <a:rPr lang="en-US" dirty="0"/>
              <a:t>push → </a:t>
            </a:r>
            <a:r>
              <a:rPr lang="en-US" b="1" dirty="0"/>
              <a:t>O(1)</a:t>
            </a:r>
            <a:r>
              <a:rPr lang="en-US" dirty="0"/>
              <a:t> (if space available)</a:t>
            </a:r>
          </a:p>
          <a:p>
            <a:r>
              <a:rPr lang="en-US" dirty="0"/>
              <a:t>pop → </a:t>
            </a:r>
            <a:r>
              <a:rPr lang="en-US" b="1" dirty="0"/>
              <a:t>O(1)</a:t>
            </a:r>
            <a:endParaRPr lang="en-US" dirty="0"/>
          </a:p>
          <a:p>
            <a:r>
              <a:rPr lang="en-US" dirty="0"/>
              <a:t>peek → </a:t>
            </a:r>
            <a:r>
              <a:rPr lang="en-US" b="1" dirty="0"/>
              <a:t>O(1)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703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1477F-D6F6-9B7E-F98E-451140BBF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Stack Implementation using Linked List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879F7-4728-5879-C18E-44CB283E6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Characteristics</a:t>
            </a:r>
          </a:p>
          <a:p>
            <a:r>
              <a:rPr lang="en-US" b="1" dirty="0"/>
              <a:t>Dynamic size</a:t>
            </a:r>
            <a:r>
              <a:rPr lang="en-US" dirty="0"/>
              <a:t> (no overflow unless memory exhausted).</a:t>
            </a:r>
          </a:p>
          <a:p>
            <a:r>
              <a:rPr lang="en-US" dirty="0"/>
              <a:t>Requires </a:t>
            </a:r>
            <a:r>
              <a:rPr lang="en-US" b="1" dirty="0"/>
              <a:t>extra memory</a:t>
            </a:r>
            <a:r>
              <a:rPr lang="en-US" dirty="0"/>
              <a:t> for pointers.</a:t>
            </a:r>
          </a:p>
          <a:p>
            <a:r>
              <a:rPr lang="en-US" dirty="0"/>
              <a:t>More flexible compared to array-based stack.</a:t>
            </a:r>
          </a:p>
          <a:p>
            <a:r>
              <a:rPr lang="en-US" b="1" dirty="0"/>
              <a:t>Operations (Time Complexity)</a:t>
            </a:r>
          </a:p>
          <a:p>
            <a:r>
              <a:rPr lang="en-US" dirty="0"/>
              <a:t>push → </a:t>
            </a:r>
            <a:r>
              <a:rPr lang="en-US" b="1" dirty="0"/>
              <a:t>O(1)</a:t>
            </a:r>
            <a:r>
              <a:rPr lang="en-US" dirty="0"/>
              <a:t> (insert at head/top)</a:t>
            </a:r>
          </a:p>
          <a:p>
            <a:r>
              <a:rPr lang="en-US" dirty="0"/>
              <a:t>pop → </a:t>
            </a:r>
            <a:r>
              <a:rPr lang="en-US" b="1" dirty="0"/>
              <a:t>O(1)</a:t>
            </a:r>
            <a:r>
              <a:rPr lang="en-US" dirty="0"/>
              <a:t> (remove from head/top)</a:t>
            </a:r>
          </a:p>
          <a:p>
            <a:r>
              <a:rPr lang="en-US" dirty="0"/>
              <a:t>peek → </a:t>
            </a:r>
            <a:r>
              <a:rPr lang="en-US" b="1" dirty="0"/>
              <a:t>O(1)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065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19FC95-2300-640F-2439-78F907B97A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9720338"/>
              </p:ext>
            </p:extLst>
          </p:nvPr>
        </p:nvGraphicFramePr>
        <p:xfrm>
          <a:off x="838200" y="2368445"/>
          <a:ext cx="10515600" cy="3357798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4202895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961666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50361756"/>
                    </a:ext>
                  </a:extLst>
                </a:gridCol>
              </a:tblGrid>
              <a:tr h="5596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Array Implementation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Linked List Implementation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307624"/>
                  </a:ext>
                </a:extLst>
              </a:tr>
              <a:tr h="5596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Memory Allocation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Fixed (static)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Dynamic (flexible)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337673"/>
                  </a:ext>
                </a:extLst>
              </a:tr>
              <a:tr h="5596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Ease of Implementation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Simple (indexing)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Slightly complex (pointers)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627786"/>
                  </a:ext>
                </a:extLst>
              </a:tr>
              <a:tr h="5596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Memory Usage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Less (no extra pointers)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More (pointers needed)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232361"/>
                  </a:ext>
                </a:extLst>
              </a:tr>
              <a:tr h="5596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Overflow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Possible (fixed size)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possible (until memory full)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21267"/>
                  </a:ext>
                </a:extLst>
              </a:tr>
              <a:tr h="5596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Cache Performance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Better (contiguous memory)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Worse (non-contiguous memory)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40995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8CBEF67-8B3E-549C-1249-C729D31E6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350" y="146903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Comparison: Array vs Linked List Implementation of Stack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993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7D54-6ED2-B14B-8CED-636D6FFF3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Applications of Stack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A6AE6-E7CC-6310-39FB-001D6B480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Function calls (recursion).</a:t>
            </a:r>
          </a:p>
          <a:p>
            <a:r>
              <a:rPr lang="en-US" dirty="0"/>
              <a:t>Undo/Redo operations in text editors.</a:t>
            </a:r>
          </a:p>
          <a:p>
            <a:r>
              <a:rPr lang="en-US" dirty="0"/>
              <a:t>Browser history navigation (back/forward).</a:t>
            </a:r>
          </a:p>
          <a:p>
            <a:r>
              <a:rPr lang="en-US" dirty="0"/>
              <a:t>Expression evaluation &amp; syntax parsing (compilers).</a:t>
            </a:r>
          </a:p>
          <a:p>
            <a:r>
              <a:rPr lang="en-US" dirty="0"/>
              <a:t>Depth-First Search (DFS) in graphs.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Summary:</a:t>
            </a:r>
            <a:endParaRPr lang="en-US" dirty="0"/>
          </a:p>
          <a:p>
            <a:r>
              <a:rPr lang="en-US" dirty="0"/>
              <a:t>Stacks can be implemented using </a:t>
            </a:r>
            <a:r>
              <a:rPr lang="en-US" b="1" dirty="0"/>
              <a:t>arrays (static)</a:t>
            </a:r>
            <a:r>
              <a:rPr lang="en-US" dirty="0"/>
              <a:t> or </a:t>
            </a:r>
            <a:r>
              <a:rPr lang="en-US" b="1" dirty="0"/>
              <a:t>linked lists (dynamic)</a:t>
            </a:r>
            <a:r>
              <a:rPr lang="en-US" dirty="0"/>
              <a:t>.</a:t>
            </a:r>
          </a:p>
          <a:p>
            <a:r>
              <a:rPr lang="en-US" dirty="0"/>
              <a:t>Array-based is </a:t>
            </a:r>
            <a:r>
              <a:rPr lang="en-US" b="1" dirty="0"/>
              <a:t>faster and cache-friendly</a:t>
            </a:r>
            <a:r>
              <a:rPr lang="en-US" dirty="0"/>
              <a:t> but has limited size.</a:t>
            </a:r>
          </a:p>
          <a:p>
            <a:r>
              <a:rPr lang="en-US" dirty="0"/>
              <a:t>Linked list-based is </a:t>
            </a:r>
            <a:r>
              <a:rPr lang="en-US" b="1" dirty="0"/>
              <a:t>flexible</a:t>
            </a:r>
            <a:r>
              <a:rPr lang="en-US" dirty="0"/>
              <a:t> but uses </a:t>
            </a:r>
            <a:r>
              <a:rPr lang="en-US" b="1" dirty="0"/>
              <a:t>extra memory</a:t>
            </a:r>
            <a:r>
              <a:rPr lang="en-US" dirty="0"/>
              <a:t> for pointers.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26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53663-0082-5FE1-BD7F-A4A2604FE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4108" cy="1325563"/>
          </a:xfrm>
        </p:spPr>
        <p:txBody>
          <a:bodyPr/>
          <a:lstStyle/>
          <a:p>
            <a:r>
              <a:rPr lang="en-US" dirty="0"/>
              <a:t>Stack using Python List (Array Implementation)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34D1E-EED3-F384-14F5-8476AB977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# Stack implementation using List (Array)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StackArray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self.stack</a:t>
            </a:r>
            <a:r>
              <a:rPr lang="en-US" dirty="0"/>
              <a:t> = []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# Push operation</a:t>
            </a:r>
          </a:p>
          <a:p>
            <a:pPr marL="0" indent="0">
              <a:buNone/>
            </a:pPr>
            <a:r>
              <a:rPr lang="en-US" dirty="0"/>
              <a:t>    def push(self, item):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self.stack.append</a:t>
            </a:r>
            <a:r>
              <a:rPr lang="en-US" dirty="0"/>
              <a:t>(item)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# Pop operation</a:t>
            </a:r>
          </a:p>
          <a:p>
            <a:pPr marL="0" indent="0">
              <a:buNone/>
            </a:pPr>
            <a:r>
              <a:rPr lang="en-US" dirty="0"/>
              <a:t>    def pop(self):</a:t>
            </a:r>
          </a:p>
          <a:p>
            <a:pPr marL="0" indent="0">
              <a:buNone/>
            </a:pPr>
            <a:r>
              <a:rPr lang="en-US" dirty="0"/>
              <a:t>        if </a:t>
            </a:r>
            <a:r>
              <a:rPr lang="en-US" dirty="0" err="1"/>
              <a:t>self.is_empty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        return "Stack Underflow"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self.stack.pop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28913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E7A06-2245-9F7D-F121-3CA3307F3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4715"/>
            <a:ext cx="10515600" cy="57422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# Peek operation</a:t>
            </a:r>
          </a:p>
          <a:p>
            <a:pPr marL="0" indent="0">
              <a:buNone/>
            </a:pPr>
            <a:r>
              <a:rPr lang="en-US" dirty="0"/>
              <a:t>    def peek(self):</a:t>
            </a:r>
          </a:p>
          <a:p>
            <a:pPr marL="0" indent="0">
              <a:buNone/>
            </a:pPr>
            <a:r>
              <a:rPr lang="en-US" dirty="0"/>
              <a:t>        if </a:t>
            </a:r>
            <a:r>
              <a:rPr lang="en-US" dirty="0" err="1"/>
              <a:t>self.is_empty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        return "Stack is empty"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self.stack</a:t>
            </a:r>
            <a:r>
              <a:rPr lang="en-US" dirty="0"/>
              <a:t>[-1]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# Check if stack is empty</a:t>
            </a:r>
          </a:p>
          <a:p>
            <a:pPr marL="0" indent="0">
              <a:buNone/>
            </a:pPr>
            <a:r>
              <a:rPr lang="en-US" dirty="0"/>
              <a:t>    def </a:t>
            </a:r>
            <a:r>
              <a:rPr lang="en-US" dirty="0" err="1"/>
              <a:t>is_empty</a:t>
            </a:r>
            <a:r>
              <a:rPr lang="en-US" dirty="0"/>
              <a:t>(self):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self.stack</a:t>
            </a:r>
            <a:r>
              <a:rPr lang="en-US" dirty="0"/>
              <a:t>) == 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# Size of stack</a:t>
            </a:r>
          </a:p>
          <a:p>
            <a:pPr marL="0" indent="0">
              <a:buNone/>
            </a:pPr>
            <a:r>
              <a:rPr lang="en-US" dirty="0"/>
              <a:t>    def size(self):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self.stack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29883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63BF6-9CBE-598A-5A62-303C76564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 Example Usage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FC2DA-2261-707C-0F9D-050428670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 = </a:t>
            </a:r>
            <a:r>
              <a:rPr lang="en-US" dirty="0" err="1"/>
              <a:t>StackArray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(10)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(20)</a:t>
            </a:r>
          </a:p>
          <a:p>
            <a:pPr marL="0" indent="0">
              <a:buNone/>
            </a:pPr>
            <a:r>
              <a:rPr lang="en-US" dirty="0" err="1"/>
              <a:t>s.push</a:t>
            </a:r>
            <a:r>
              <a:rPr lang="en-US" dirty="0"/>
              <a:t>(30)</a:t>
            </a:r>
          </a:p>
          <a:p>
            <a:pPr marL="0" indent="0">
              <a:buNone/>
            </a:pPr>
            <a:r>
              <a:rPr lang="en-US" dirty="0"/>
              <a:t>print("Top Element:", </a:t>
            </a:r>
            <a:r>
              <a:rPr lang="en-US" dirty="0" err="1"/>
              <a:t>s.peek</a:t>
            </a:r>
            <a:r>
              <a:rPr lang="en-US" dirty="0"/>
              <a:t>())   # Output: 30</a:t>
            </a:r>
          </a:p>
          <a:p>
            <a:pPr marL="0" indent="0">
              <a:buNone/>
            </a:pPr>
            <a:r>
              <a:rPr lang="en-US" dirty="0"/>
              <a:t>print("Stack Pop:", </a:t>
            </a:r>
            <a:r>
              <a:rPr lang="en-US" dirty="0" err="1"/>
              <a:t>s.pop</a:t>
            </a:r>
            <a:r>
              <a:rPr lang="en-US" dirty="0"/>
              <a:t>())      # Output: 30</a:t>
            </a:r>
          </a:p>
          <a:p>
            <a:pPr marL="0" indent="0">
              <a:buNone/>
            </a:pPr>
            <a:r>
              <a:rPr lang="en-US" dirty="0"/>
              <a:t>print("Stack Size:", </a:t>
            </a:r>
            <a:r>
              <a:rPr lang="en-US" dirty="0" err="1"/>
              <a:t>s.size</a:t>
            </a:r>
            <a:r>
              <a:rPr lang="en-US" dirty="0"/>
              <a:t>())    # Output: 2</a:t>
            </a:r>
          </a:p>
        </p:txBody>
      </p:sp>
    </p:spTree>
    <p:extLst>
      <p:ext uri="{BB962C8B-B14F-4D97-AF65-F5344CB8AC3E}">
        <p14:creationId xmlns:p14="http://schemas.microsoft.com/office/powerpoint/2010/main" val="4290421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3DA0D-8E9D-7369-F3B2-0AB1C27E7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D2AFB-C22C-AA0C-6F2C-7022F42FF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✅ </a:t>
            </a:r>
            <a:r>
              <a:rPr lang="en-US" b="1" dirty="0"/>
              <a:t>Time Complexity:</a:t>
            </a:r>
            <a:endParaRPr lang="en-US" dirty="0"/>
          </a:p>
          <a:p>
            <a:r>
              <a:rPr lang="en-US" dirty="0"/>
              <a:t>push, pop, peek → </a:t>
            </a:r>
            <a:r>
              <a:rPr lang="en-US" b="1" dirty="0"/>
              <a:t>O(1)</a:t>
            </a:r>
            <a:r>
              <a:rPr lang="en-US" dirty="0"/>
              <a:t> (amortized).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696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DA1C4-5F1B-0A8A-3724-AAABD4080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3D73A-0D7A-34A6-2802-7DCD84C02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Stack using Linked List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201821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B1A5D-C511-AF66-534D-573708FD4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882"/>
            <a:ext cx="10515600" cy="626588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# Node class for Linked List</a:t>
            </a:r>
          </a:p>
          <a:p>
            <a:pPr marL="0" indent="0">
              <a:buNone/>
            </a:pPr>
            <a:r>
              <a:rPr lang="en-US" dirty="0"/>
              <a:t>class Node: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data):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self.data</a:t>
            </a:r>
            <a:r>
              <a:rPr lang="en-US" dirty="0"/>
              <a:t> = data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self.next</a:t>
            </a:r>
            <a:r>
              <a:rPr lang="en-US" dirty="0"/>
              <a:t> = None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Stack implementation using Linked List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StackLinkedList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self.top</a:t>
            </a:r>
            <a:r>
              <a:rPr lang="en-US" dirty="0"/>
              <a:t> = None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self.count</a:t>
            </a:r>
            <a:r>
              <a:rPr lang="en-US" dirty="0"/>
              <a:t> = 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# Push operation (insert at head)</a:t>
            </a:r>
          </a:p>
          <a:p>
            <a:pPr marL="0" indent="0">
              <a:buNone/>
            </a:pPr>
            <a:r>
              <a:rPr lang="en-US" dirty="0"/>
              <a:t>    def push(self, item):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new_node</a:t>
            </a:r>
            <a:r>
              <a:rPr lang="en-US" dirty="0"/>
              <a:t> = Node(item)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new_node.next</a:t>
            </a:r>
            <a:r>
              <a:rPr lang="en-US" dirty="0"/>
              <a:t> = </a:t>
            </a:r>
            <a:r>
              <a:rPr lang="en-US" dirty="0" err="1"/>
              <a:t>self.top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self.top</a:t>
            </a:r>
            <a:r>
              <a:rPr lang="en-US" dirty="0"/>
              <a:t> = </a:t>
            </a:r>
            <a:r>
              <a:rPr lang="en-US" dirty="0" err="1"/>
              <a:t>new_node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self.count</a:t>
            </a:r>
            <a:r>
              <a:rPr lang="en-US" dirty="0"/>
              <a:t> += 1</a:t>
            </a:r>
          </a:p>
        </p:txBody>
      </p:sp>
    </p:spTree>
    <p:extLst>
      <p:ext uri="{BB962C8B-B14F-4D97-AF65-F5344CB8AC3E}">
        <p14:creationId xmlns:p14="http://schemas.microsoft.com/office/powerpoint/2010/main" val="2302538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55E81-82FC-30EB-C3E3-6BC00D19B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4754"/>
            <a:ext cx="10515600" cy="580220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# Pop operation (remove from head)</a:t>
            </a:r>
          </a:p>
          <a:p>
            <a:pPr marL="0" indent="0">
              <a:buNone/>
            </a:pPr>
            <a:r>
              <a:rPr lang="en-US" dirty="0"/>
              <a:t>    def pop(self):</a:t>
            </a:r>
          </a:p>
          <a:p>
            <a:pPr marL="0" indent="0">
              <a:buNone/>
            </a:pPr>
            <a:r>
              <a:rPr lang="en-US" dirty="0"/>
              <a:t>        if </a:t>
            </a:r>
            <a:r>
              <a:rPr lang="en-US" dirty="0" err="1"/>
              <a:t>self.is_empty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        return "Stack Underflow"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popped_data</a:t>
            </a:r>
            <a:r>
              <a:rPr lang="en-US" dirty="0"/>
              <a:t> = </a:t>
            </a:r>
            <a:r>
              <a:rPr lang="en-US" dirty="0" err="1"/>
              <a:t>self.top.data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self.top</a:t>
            </a:r>
            <a:r>
              <a:rPr lang="en-US" dirty="0"/>
              <a:t> = </a:t>
            </a:r>
            <a:r>
              <a:rPr lang="en-US" dirty="0" err="1"/>
              <a:t>self.top.next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self.count</a:t>
            </a:r>
            <a:r>
              <a:rPr lang="en-US" dirty="0"/>
              <a:t> -= 1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popped_data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# Peek operation</a:t>
            </a:r>
          </a:p>
          <a:p>
            <a:pPr marL="0" indent="0">
              <a:buNone/>
            </a:pPr>
            <a:r>
              <a:rPr lang="en-US" dirty="0"/>
              <a:t>    def peek(self):</a:t>
            </a:r>
          </a:p>
          <a:p>
            <a:pPr marL="0" indent="0">
              <a:buNone/>
            </a:pPr>
            <a:r>
              <a:rPr lang="en-US" dirty="0"/>
              <a:t>        if </a:t>
            </a:r>
            <a:r>
              <a:rPr lang="en-US" dirty="0" err="1"/>
              <a:t>self.is_empty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        return "Stack is empty"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self.top.data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112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FEE0E-D28B-E75D-F4F4-C08716873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06260-4BB8-D687-C079-F10B6BBCD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# Check if stack is empty</a:t>
            </a:r>
          </a:p>
          <a:p>
            <a:pPr marL="0" indent="0">
              <a:buNone/>
            </a:pPr>
            <a:r>
              <a:rPr lang="en-US" dirty="0"/>
              <a:t>    def </a:t>
            </a:r>
            <a:r>
              <a:rPr lang="en-US" dirty="0" err="1"/>
              <a:t>is_empty</a:t>
            </a:r>
            <a:r>
              <a:rPr lang="en-US" dirty="0"/>
              <a:t>(self):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self.top</a:t>
            </a:r>
            <a:r>
              <a:rPr lang="en-US" dirty="0"/>
              <a:t> is None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# Size of stack</a:t>
            </a:r>
          </a:p>
          <a:p>
            <a:pPr marL="0" indent="0">
              <a:buNone/>
            </a:pPr>
            <a:r>
              <a:rPr lang="en-US" dirty="0"/>
              <a:t>    def size(self):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self.count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882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74D5F-29BF-86BE-1EA9-843AED96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75B63-887C-FF2B-F750-54C6DC735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# Example Usage</a:t>
            </a:r>
          </a:p>
          <a:p>
            <a:pPr marL="0" indent="0">
              <a:buNone/>
            </a:pPr>
            <a:r>
              <a:rPr lang="en-US" dirty="0"/>
              <a:t>stack = </a:t>
            </a:r>
            <a:r>
              <a:rPr lang="en-US" dirty="0" err="1"/>
              <a:t>StackLinkedList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stack.push</a:t>
            </a:r>
            <a:r>
              <a:rPr lang="en-US" dirty="0"/>
              <a:t>(100)</a:t>
            </a:r>
          </a:p>
          <a:p>
            <a:pPr marL="0" indent="0">
              <a:buNone/>
            </a:pPr>
            <a:r>
              <a:rPr lang="en-US" dirty="0" err="1"/>
              <a:t>stack.push</a:t>
            </a:r>
            <a:r>
              <a:rPr lang="en-US" dirty="0"/>
              <a:t>(200)</a:t>
            </a:r>
          </a:p>
          <a:p>
            <a:pPr marL="0" indent="0">
              <a:buNone/>
            </a:pPr>
            <a:r>
              <a:rPr lang="en-US" dirty="0" err="1"/>
              <a:t>stack.push</a:t>
            </a:r>
            <a:r>
              <a:rPr lang="en-US" dirty="0"/>
              <a:t>(300)</a:t>
            </a:r>
          </a:p>
          <a:p>
            <a:pPr marL="0" indent="0">
              <a:buNone/>
            </a:pPr>
            <a:r>
              <a:rPr lang="en-US" dirty="0"/>
              <a:t>print("Top Element:", </a:t>
            </a:r>
            <a:r>
              <a:rPr lang="en-US" dirty="0" err="1"/>
              <a:t>stack.peek</a:t>
            </a:r>
            <a:r>
              <a:rPr lang="en-US" dirty="0"/>
              <a:t>())  # Output: 300</a:t>
            </a:r>
          </a:p>
          <a:p>
            <a:pPr marL="0" indent="0">
              <a:buNone/>
            </a:pPr>
            <a:r>
              <a:rPr lang="en-US" dirty="0"/>
              <a:t>print("Stack Pop:", </a:t>
            </a:r>
            <a:r>
              <a:rPr lang="en-US" dirty="0" err="1"/>
              <a:t>stack.pop</a:t>
            </a:r>
            <a:r>
              <a:rPr lang="en-US" dirty="0"/>
              <a:t>())     # Output: 300</a:t>
            </a:r>
          </a:p>
          <a:p>
            <a:pPr marL="0" indent="0">
              <a:buNone/>
            </a:pPr>
            <a:r>
              <a:rPr lang="en-US" dirty="0"/>
              <a:t>print("Stack Size:", </a:t>
            </a:r>
            <a:r>
              <a:rPr lang="en-US" dirty="0" err="1"/>
              <a:t>stack.size</a:t>
            </a:r>
            <a:r>
              <a:rPr lang="en-US" dirty="0"/>
              <a:t>())   # Output: 2</a:t>
            </a:r>
          </a:p>
        </p:txBody>
      </p:sp>
    </p:spTree>
    <p:extLst>
      <p:ext uri="{BB962C8B-B14F-4D97-AF65-F5344CB8AC3E}">
        <p14:creationId xmlns:p14="http://schemas.microsoft.com/office/powerpoint/2010/main" val="1636893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9CE24-B408-8980-8AB8-E0973D05F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Time Complexity: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A1DE8-9A21-0317-11F2-CC88FDFF0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push, pop, peek → </a:t>
            </a:r>
            <a:r>
              <a:rPr lang="en-US" b="1" dirty="0"/>
              <a:t>O(1)</a:t>
            </a:r>
            <a:r>
              <a:rPr lang="en-US" dirty="0"/>
              <a:t>.</a:t>
            </a:r>
          </a:p>
          <a:p>
            <a:r>
              <a:rPr lang="en-US" dirty="0"/>
              <a:t>Uses </a:t>
            </a:r>
            <a:r>
              <a:rPr lang="en-US" b="1" dirty="0"/>
              <a:t>extra memory</a:t>
            </a:r>
            <a:r>
              <a:rPr lang="en-US" dirty="0"/>
              <a:t> for pointers.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291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314918-F4AF-80E3-CD9A-87228A99CA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4413165"/>
              </p:ext>
            </p:extLst>
          </p:nvPr>
        </p:nvGraphicFramePr>
        <p:xfrm>
          <a:off x="838200" y="1963711"/>
          <a:ext cx="10515600" cy="3089142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0480770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38680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98434199"/>
                    </a:ext>
                  </a:extLst>
                </a:gridCol>
              </a:tblGrid>
              <a:tr h="53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Array (List)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Linked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269562"/>
                  </a:ext>
                </a:extLst>
              </a:tr>
              <a:tr h="53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Contiguous (less memory)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Extra memory for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next</a:t>
                      </a:r>
                      <a:r>
                        <a:rPr lang="en-US"/>
                        <a:t> pointer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645523"/>
                  </a:ext>
                </a:extLst>
              </a:tr>
              <a:tr h="53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Dynamic (auto resize)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Dynamic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68268"/>
                  </a:ext>
                </a:extLst>
              </a:tr>
              <a:tr h="53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Faster due to cache locality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Slightly 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092596"/>
                  </a:ext>
                </a:extLst>
              </a:tr>
              <a:tr h="940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Overflow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an issue in Python (dynamic list)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Not an issue (depends on system memory)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53016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32BA3B6-84C2-5A15-0350-9FB0B55BB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49964"/>
            <a:ext cx="793104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 (Python Perspective)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881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1002</Words>
  <Application>Microsoft Office PowerPoint</Application>
  <PresentationFormat>Widescreen</PresentationFormat>
  <Paragraphs>165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Office Theme</vt:lpstr>
      <vt:lpstr>Stack Implementations (Array vs Linked List) </vt:lpstr>
      <vt:lpstr>Introduction to Stack </vt:lpstr>
      <vt:lpstr>Stack Implementation using Array </vt:lpstr>
      <vt:lpstr>Stack Implementation using Linked List </vt:lpstr>
      <vt:lpstr>PowerPoint Presentation</vt:lpstr>
      <vt:lpstr>Real-World Applications of Stack </vt:lpstr>
      <vt:lpstr>Stack using Python List (Array Implementation)</vt:lpstr>
      <vt:lpstr>PowerPoint Presentation</vt:lpstr>
      <vt:lpstr># Example Usage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 Complexity: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19</cp:revision>
  <dcterms:created xsi:type="dcterms:W3CDTF">2025-09-08T07:50:25Z</dcterms:created>
  <dcterms:modified xsi:type="dcterms:W3CDTF">2025-09-08T07:56:38Z</dcterms:modified>
</cp:coreProperties>
</file>