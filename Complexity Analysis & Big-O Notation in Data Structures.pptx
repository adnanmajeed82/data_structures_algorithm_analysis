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BD9A-F3C3-F8A0-6ED2-8501A8070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FE21F-AE8C-1B7B-6EAA-9CE7B6AA3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8556-884E-A193-E015-54C93888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11C8-C82A-5DF7-6C05-3B638C1C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3E995-8051-F4FE-C905-F28BDE25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9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00CB-CA28-68EB-C6F7-DA0E9E515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32EAC-FE70-2D6F-3FE6-3EEDC799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BDAD1-F3B3-6D61-AEA5-417F6B45C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11273-B4D3-EAB6-CAFE-0FC54058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C921C-2A20-FAFC-CD83-76CA2571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8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03D6-E743-BF9B-5FD2-E94CF91F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CE102-E6CD-CAB3-C738-CBCBE5657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CD59-4B0B-2217-A684-C3BADABD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D6F87-368E-813A-041D-42961D14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053C-889A-CD80-0220-24418887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6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A482-F0E2-D72B-73FB-BDE2E362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9C8F-D9C0-1068-E415-1EBB09B8F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38463-C4A8-8CA9-B5AB-FC287F825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8505E-7430-3519-3577-E0439699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1D726-3661-CBDC-AE5A-07576196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6E1F5-72E1-6A20-B784-71B4741A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517A-1373-8C0C-8F75-407A4DEB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8676F-FB3D-04D4-AD0D-33882E266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9DF38-6822-2EB8-59AA-EE3BB6135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55ABD-D1E2-5E54-2371-7C6DD41EE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393AA-BA8D-8166-BD3C-0835FAA00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4DC2A-580F-1BF4-A1B8-824FD9DE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F806B-C99A-CE60-9C9E-6DE29472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81FAE-FEAE-8579-186B-B71AB8A4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1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FC1D-D6FE-D9C6-DAE7-7A26AC8A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6F764-6B48-95CC-DD0F-A17EE3A9C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18ABE-144C-7C64-0D47-5BF5D5AD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816FE-B65E-AA4B-0F41-C33EAA9F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5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ECBAD-7698-3CA0-15EA-432171B0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2175F-0BE3-E665-3605-DD5B109D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00312-CEAC-329D-4D14-6F3A42A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BCBC-CECC-B1A2-BC3C-2624FA35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8A35A-B9A4-CCA4-049C-329C166C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CEB91-1D07-FA1E-E46A-E0423D826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C5E3C-9058-89EC-093F-BF932496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A5FCB-4E2E-0821-D516-70A8AE63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EF6AA-34BA-15C4-EDD0-D2CA31443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7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0F43-C3E0-011A-BB5E-1765B630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165B9-6C1C-C195-3587-C4004CE72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8DBC6-2C29-31F0-EA1C-472A52DC8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B3955-8F22-254B-42D2-92487DE4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6188B-ACBE-5632-9D0A-858D91D1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9AB57-AAFD-7CD0-068D-2C685ABB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8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08B2-6B7A-C484-14EF-949F0AF5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CDC31-9DE8-4CCB-CDA7-A2FDAF821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BC496-163C-CB28-889A-B1B33CEC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7BD4-D007-1A87-5C8A-D21953E9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397D3-0EC1-1094-A24B-3C0960B9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1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8F48AF-B070-1286-0685-B371D134A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50DB7-69F2-FF70-61F9-E232B51CB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8F455-4D16-E36E-F358-1B52F492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506-539E-DCA0-6FAF-F57E5DDB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2BF3-92BC-82ED-BFD6-AA568649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1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9718A-E7C6-2EFB-0571-A5EAE9D0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EFBD4-DF18-6C1A-14EF-919D691D4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0642-DEE8-A29C-731C-CB6E8DE40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B05FE-620D-4CE4-8802-A5995A37FB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8FBBB-BBA8-57FA-35AF-F2AA6CAE9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6D849-A1C1-C24C-8AB0-CF0991A57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0BF6F-E5DA-4542-9FB5-CF0CD671A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6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CCE2-626B-651B-F451-7BE4E258B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Complexity Analysis &amp; Big-O Notation in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BB87A-3D59-80F6-7E86-09E84ECC0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334431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A39B-D878-0BC4-A5A3-CA9B0955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Complexity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DED2B-66AF-378C-59C3-C2B186B3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Complexity Analysis?</a:t>
            </a:r>
            <a:endParaRPr lang="en-US" dirty="0"/>
          </a:p>
          <a:p>
            <a:pPr lvl="1"/>
            <a:r>
              <a:rPr lang="en-US" dirty="0"/>
              <a:t>To measure </a:t>
            </a:r>
            <a:r>
              <a:rPr lang="en-US" b="1" dirty="0"/>
              <a:t>efficiency</a:t>
            </a:r>
            <a:r>
              <a:rPr lang="en-US" dirty="0"/>
              <a:t> of algorithms.</a:t>
            </a:r>
          </a:p>
          <a:p>
            <a:pPr lvl="1"/>
            <a:r>
              <a:rPr lang="en-US" dirty="0"/>
              <a:t>To compare different algorithms solving the same problem.</a:t>
            </a:r>
          </a:p>
          <a:p>
            <a:pPr lvl="1"/>
            <a:r>
              <a:rPr lang="en-US" dirty="0"/>
              <a:t>To estimate scalability when input size increases.</a:t>
            </a:r>
          </a:p>
          <a:p>
            <a:r>
              <a:rPr lang="en-US" b="1" dirty="0"/>
              <a:t>Two key resources:</a:t>
            </a:r>
            <a:endParaRPr lang="en-US" dirty="0"/>
          </a:p>
          <a:p>
            <a:pPr lvl="1"/>
            <a:r>
              <a:rPr lang="en-US" b="1" dirty="0"/>
              <a:t>Time Complexity</a:t>
            </a:r>
            <a:r>
              <a:rPr lang="en-US" dirty="0"/>
              <a:t> – How the runtime grows with input size.</a:t>
            </a:r>
          </a:p>
          <a:p>
            <a:pPr lvl="1"/>
            <a:r>
              <a:rPr lang="en-US" b="1" dirty="0"/>
              <a:t>Space Complexity</a:t>
            </a:r>
            <a:r>
              <a:rPr lang="en-US" dirty="0"/>
              <a:t> – How much memory is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8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0C47-8B12-CCD2-5991-E4F1EB6B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Algorithm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E872-C584-7EE5-4D7D-F4532DFE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Best Case (Ω-notation):</a:t>
            </a:r>
            <a:endParaRPr lang="en-US" dirty="0"/>
          </a:p>
          <a:p>
            <a:pPr lvl="1"/>
            <a:r>
              <a:rPr lang="en-US" dirty="0"/>
              <a:t>Minimum time an algorithm takes.</a:t>
            </a:r>
          </a:p>
          <a:p>
            <a:pPr lvl="1"/>
            <a:r>
              <a:rPr lang="en-US" dirty="0"/>
              <a:t>Example: Searching first element in a list.</a:t>
            </a:r>
          </a:p>
          <a:p>
            <a:r>
              <a:rPr lang="en-US" b="1" dirty="0"/>
              <a:t>Average Case (θ-notation):</a:t>
            </a:r>
            <a:endParaRPr lang="en-US" dirty="0"/>
          </a:p>
          <a:p>
            <a:pPr lvl="1"/>
            <a:r>
              <a:rPr lang="en-US" dirty="0"/>
              <a:t>Expected time for random input.</a:t>
            </a:r>
          </a:p>
          <a:p>
            <a:pPr lvl="1"/>
            <a:r>
              <a:rPr lang="en-US" dirty="0"/>
              <a:t>Example: Searching in an unsorted list.</a:t>
            </a:r>
          </a:p>
          <a:p>
            <a:r>
              <a:rPr lang="en-US" b="1" dirty="0"/>
              <a:t>Worst Case (O-notation):</a:t>
            </a:r>
            <a:endParaRPr lang="en-US" dirty="0"/>
          </a:p>
          <a:p>
            <a:pPr lvl="1"/>
            <a:r>
              <a:rPr lang="en-US" dirty="0"/>
              <a:t>Maximum time required.</a:t>
            </a:r>
          </a:p>
          <a:p>
            <a:pPr lvl="1"/>
            <a:r>
              <a:rPr lang="en-US" dirty="0"/>
              <a:t>Example: Searching for an element that is not present.</a:t>
            </a:r>
          </a:p>
          <a:p>
            <a:r>
              <a:rPr lang="en-US" dirty="0"/>
              <a:t>👉 In practice, we usually focus on </a:t>
            </a:r>
            <a:r>
              <a:rPr lang="en-US" b="1" dirty="0"/>
              <a:t>Worst Case (Big-O)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8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711A-C4DB-3318-24E2-7E42F2A6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Big-O Notation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E65D-08E6-CFB7-6B99-36DF3F8B6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Describes the </a:t>
            </a:r>
            <a:r>
              <a:rPr lang="en-US" b="1" dirty="0"/>
              <a:t>upper bound</a:t>
            </a:r>
            <a:r>
              <a:rPr lang="en-US" dirty="0"/>
              <a:t> of an algorithm’s growth rate.</a:t>
            </a:r>
          </a:p>
          <a:p>
            <a:r>
              <a:rPr lang="en-US" dirty="0"/>
              <a:t>Ignores constants and less significant terms.</a:t>
            </a:r>
          </a:p>
          <a:p>
            <a:r>
              <a:rPr lang="en-US" dirty="0"/>
              <a:t>Focuses only on </a:t>
            </a:r>
            <a:r>
              <a:rPr lang="en-US" b="1" dirty="0"/>
              <a:t>dominant factor</a:t>
            </a:r>
            <a:r>
              <a:rPr lang="en-US" dirty="0"/>
              <a:t> when input size n becomes very large.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O(1) → Constant time</a:t>
            </a:r>
          </a:p>
          <a:p>
            <a:r>
              <a:rPr lang="en-US" dirty="0"/>
              <a:t>O(log n) → Logarithmic time</a:t>
            </a:r>
          </a:p>
          <a:p>
            <a:r>
              <a:rPr lang="en-US" dirty="0"/>
              <a:t>O(n) → Linear time</a:t>
            </a:r>
          </a:p>
          <a:p>
            <a:r>
              <a:rPr lang="en-US" dirty="0"/>
              <a:t>O(n log n) → </a:t>
            </a:r>
            <a:r>
              <a:rPr lang="en-US" dirty="0" err="1"/>
              <a:t>Linearithmic</a:t>
            </a:r>
            <a:r>
              <a:rPr lang="en-US" dirty="0"/>
              <a:t> time</a:t>
            </a:r>
          </a:p>
          <a:p>
            <a:r>
              <a:rPr lang="en-US" dirty="0"/>
              <a:t>O(n²) → Quadratic time</a:t>
            </a:r>
          </a:p>
          <a:p>
            <a:r>
              <a:rPr lang="en-US" dirty="0"/>
              <a:t>O(2^n) → Exponential time</a:t>
            </a:r>
          </a:p>
          <a:p>
            <a:r>
              <a:rPr lang="en-US" dirty="0"/>
              <a:t>O(n!) → Factorial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08F2-D999-A7FC-BF65-8053236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Examples in Data Structures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BE1A-0929-21EC-876F-6CB55EC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Array Operations</a:t>
            </a:r>
          </a:p>
          <a:p>
            <a:r>
              <a:rPr lang="en-US" dirty="0"/>
              <a:t>Access: O(1) (direct indexing)</a:t>
            </a:r>
          </a:p>
          <a:p>
            <a:r>
              <a:rPr lang="en-US" dirty="0"/>
              <a:t>Search (unsorted): O(n)</a:t>
            </a:r>
          </a:p>
          <a:p>
            <a:r>
              <a:rPr lang="en-US" dirty="0"/>
              <a:t>Search (sorted with Binary Search): O(log n)</a:t>
            </a:r>
          </a:p>
          <a:p>
            <a:r>
              <a:rPr lang="en-US" dirty="0"/>
              <a:t>Insertion (at end): O(1) (amortized)</a:t>
            </a:r>
          </a:p>
          <a:p>
            <a:r>
              <a:rPr lang="en-US" dirty="0"/>
              <a:t>Insertion (at beginning/middle):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6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9A4F-B6EC-A2F2-BEEF-61BF727E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Linked List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DF6B6-4A92-AAA8-CCEC-B97263FDE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Traversal/Search: O(n)</a:t>
            </a:r>
          </a:p>
          <a:p>
            <a:r>
              <a:rPr lang="en-US" dirty="0"/>
              <a:t>Insertion/Deletion at beginning: O(1)</a:t>
            </a:r>
          </a:p>
          <a:p>
            <a:r>
              <a:rPr lang="en-US" dirty="0"/>
              <a:t>Insertion/Deletion at specific node: O(1) (if pointer given)</a:t>
            </a:r>
          </a:p>
          <a:p>
            <a:r>
              <a:rPr lang="en-US" b="1" dirty="0"/>
              <a:t>Stack &amp; Queue</a:t>
            </a:r>
          </a:p>
          <a:p>
            <a:r>
              <a:rPr lang="en-US" dirty="0"/>
              <a:t>Push/Pop/Enqueue/Dequeue: O(1)</a:t>
            </a:r>
          </a:p>
          <a:p>
            <a:r>
              <a:rPr lang="en-US" dirty="0"/>
              <a:t>Search: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7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B9F4-BEF2-0BA1-7DA0-5B09B3843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r>
              <a:rPr lang="en-US" b="1" dirty="0"/>
              <a:t>Hashing</a:t>
            </a:r>
          </a:p>
          <a:p>
            <a:r>
              <a:rPr lang="en-US" dirty="0"/>
              <a:t>Average case: O(1) (insert, delete, search)</a:t>
            </a:r>
          </a:p>
          <a:p>
            <a:r>
              <a:rPr lang="en-US" dirty="0"/>
              <a:t>Worst case: O(n) (if collisions happen)</a:t>
            </a:r>
          </a:p>
          <a:p>
            <a:r>
              <a:rPr lang="en-US" b="1" dirty="0"/>
              <a:t>Trees</a:t>
            </a:r>
          </a:p>
          <a:p>
            <a:r>
              <a:rPr lang="en-US" dirty="0"/>
              <a:t>Binary Search Tree (Balanced)</a:t>
            </a:r>
          </a:p>
          <a:p>
            <a:pPr lvl="1"/>
            <a:r>
              <a:rPr lang="en-US" dirty="0"/>
              <a:t>Search/Insert/Delete: O(log n)</a:t>
            </a:r>
          </a:p>
          <a:p>
            <a:r>
              <a:rPr lang="en-US" dirty="0"/>
              <a:t>Skewed Tree (Unbalanced)</a:t>
            </a:r>
          </a:p>
          <a:p>
            <a:pPr lvl="1"/>
            <a:r>
              <a:rPr lang="en-US" dirty="0"/>
              <a:t>Search/Insert/Delete: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3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CFDC-0ADC-1773-73ED-C2F122EB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Graph</a:t>
            </a:r>
            <a:br>
              <a:rPr lang="pt-BR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0E202-47BB-728A-84C2-594DD7BB8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Adjacency Matrix: O(V^2)</a:t>
            </a:r>
          </a:p>
          <a:p>
            <a:r>
              <a:rPr lang="pt-BR" dirty="0"/>
              <a:t>Adjacency List: O(V + 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041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577B55-801B-83B9-071E-71CF327C6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008736"/>
              </p:ext>
            </p:extLst>
          </p:nvPr>
        </p:nvGraphicFramePr>
        <p:xfrm>
          <a:off x="838200" y="1873770"/>
          <a:ext cx="10515600" cy="359056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529937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2730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83538780"/>
                    </a:ext>
                  </a:extLst>
                </a:gridCol>
              </a:tblGrid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Complexity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903490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090573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O(log n)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Binary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532986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O(n)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Linear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254333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O(n log n)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Merge Sort, Quick Sort (avg)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959399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O(n²)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Bubble Sort, Insertion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29051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O(2^n)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Recursive Fibonacci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216713"/>
                  </a:ext>
                </a:extLst>
              </a:tr>
              <a:tr h="448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O(n!)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Traveling Salesman (Brute Force)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Unusable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740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E8B26A6-3006-81D6-DC4F-1E147EB4E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85837"/>
            <a:ext cx="49968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Big-O Graph (Growth Rates)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665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5C91-EA03-0146-F402-03C0ED5C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08F-29BB-428C-ECB0-9F18A17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analysis helps </a:t>
            </a:r>
            <a:r>
              <a:rPr lang="en-US" b="1" dirty="0"/>
              <a:t>choose efficient algorithms</a:t>
            </a:r>
            <a:r>
              <a:rPr lang="en-US" dirty="0"/>
              <a:t>.</a:t>
            </a:r>
          </a:p>
          <a:p>
            <a:r>
              <a:rPr lang="en-US" b="1" dirty="0"/>
              <a:t>Big-O notation</a:t>
            </a:r>
            <a:r>
              <a:rPr lang="en-US" dirty="0"/>
              <a:t> expresses </a:t>
            </a:r>
            <a:r>
              <a:rPr lang="en-US" b="1" dirty="0"/>
              <a:t>worst-case growth rate</a:t>
            </a:r>
            <a:r>
              <a:rPr lang="en-US" dirty="0"/>
              <a:t>.</a:t>
            </a:r>
          </a:p>
          <a:p>
            <a:r>
              <a:rPr lang="en-US" dirty="0"/>
              <a:t>Always try to aim for </a:t>
            </a:r>
            <a:r>
              <a:rPr lang="en-US" b="1" dirty="0"/>
              <a:t>O(log n)</a:t>
            </a:r>
            <a:r>
              <a:rPr lang="en-US" dirty="0"/>
              <a:t> or </a:t>
            </a:r>
            <a:r>
              <a:rPr lang="en-US" b="1" dirty="0"/>
              <a:t>O(n)</a:t>
            </a:r>
            <a:r>
              <a:rPr lang="en-US" dirty="0"/>
              <a:t> solutions in practice.</a:t>
            </a:r>
          </a:p>
          <a:p>
            <a:r>
              <a:rPr lang="en-US" dirty="0"/>
              <a:t>Space vs. Time trade-off is crucial.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79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555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Complexity Analysis &amp; Big-O Notation in Data Structures</vt:lpstr>
      <vt:lpstr>Introduction to Complexity Analysis </vt:lpstr>
      <vt:lpstr>Types of Algorithm Analysis </vt:lpstr>
      <vt:lpstr>Big-O Notation </vt:lpstr>
      <vt:lpstr>Common Examples in Data Structures </vt:lpstr>
      <vt:lpstr>Linked List Operations </vt:lpstr>
      <vt:lpstr>PowerPoint Presentation</vt:lpstr>
      <vt:lpstr>Graph </vt:lpstr>
      <vt:lpstr>PowerPoint Presentation</vt:lpstr>
      <vt:lpstr>Key Takeaways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11</cp:revision>
  <dcterms:created xsi:type="dcterms:W3CDTF">2025-09-08T07:45:26Z</dcterms:created>
  <dcterms:modified xsi:type="dcterms:W3CDTF">2025-09-08T07:50:03Z</dcterms:modified>
</cp:coreProperties>
</file>