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0465-0E5B-9C30-6F86-F45D24603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06C29-8FF7-C738-01EE-372D8793E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8BE31-E022-DB8D-CF3E-845C99F9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9AA0-76B9-2FD2-DE10-DC9F2429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683C1-6A7C-7103-A32D-7C237086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5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770C-E486-BCDE-7EE0-B13C806A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1A6CC-B7A7-2E67-06CA-E989E9CD5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F249-3ACC-413E-9E65-21E41785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8CAA-53FA-A67E-4A7E-AF343DBE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61080-B28E-1BD5-473C-1BFB3AFD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3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1E22-965F-1665-B8C0-B9F30E93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96F83-2BE1-C31C-9BA6-32560AA17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F005-F427-AD9F-5115-BAC4AB3E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B8C78-005F-829B-4552-8D89CD7C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EB5DF-D234-99B1-97D2-E8DB3F87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1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8E06-8444-E653-E5B9-B6A042DA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F986-A4E7-CE4F-6E87-0E1B1DF47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C640C-46C6-A980-73D1-9ADA2FED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0C5B8-53CB-8E49-7E43-549BA371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50D0F-6885-712A-75B3-98CA89C4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B8984-6D1C-C4B4-A0D7-1BEDB4BF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F7B8D-DB10-50B1-5836-138E555F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13006-09C9-542C-C1E9-F0E29F90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8A369-4001-CCEF-316E-95AE5DEAF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EC916-D32D-1A60-C9AC-767D3E198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CD14B-B459-0FAB-0629-AA338B32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6602B-8B26-F9AC-EC75-ED8C253B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635E8-86F2-A685-4F9D-8ABDBCF3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E708A-4B45-50E3-3FA6-4F11B9E3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2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AC85-FC19-E3BE-195B-84DC7F27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5459A-1CC2-F8A2-85AE-84155B96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7D9A5-4C50-5BDE-7D6C-D6C100A7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6DAED-901C-9C99-E345-8FB60542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9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C721F-35FB-1F38-DA96-8DF52E6E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5F5FE-8B5A-D214-7CF6-6F2BC467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B7196-BB78-273E-B598-4AADCD67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6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CA68-6D7A-5BF2-7088-7D38C731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8B49F-EF41-FD44-7CA7-703FA7FF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9109E-3ADF-BCFE-4A91-754067AC6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77030-9DD0-2091-B3B9-DF2F6E96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2EC18-865B-C148-7568-8A60F01D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45039-E062-58CE-815A-8FBB6674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4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3B67-FD56-D48A-AFFA-BFF48B4A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A648B-B442-1C52-5C52-81F3591FB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98D55-9548-33C8-5CB4-3B8C1003A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4B1AF-44BA-47B7-BA9C-74EB61F0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24CF7-9C2C-EE86-993E-164F620C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EA967-FCE4-E72A-7D4A-A3300E0C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9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0720-76F5-D966-C5E6-3A470AD5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849C1-C20B-265C-36D4-102B1F780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F0193-1CA9-ACEA-2305-6EC8E38A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7F75-93AD-74D1-AF72-0D67D957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146CF-4AA7-5E25-DD47-667DC0EF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A2EFF-5A45-EEDF-4552-FC11A07DC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924DF-C237-04A0-B81A-63471A2CE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ACB4B-7BD9-4589-4BE7-FFBFBAC7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50E0-AA3A-F3A7-C811-F591A871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3A4C4-AC00-C6CF-CCBA-FEB8A4C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1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C3BEB-D135-A0C0-81DF-747143D9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A7DEF-7EE0-F584-3D8A-D4DABF44F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26AA6-F77F-6112-F3F9-F76B74105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B301-4C59-47F4-A40B-26127752BD0A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40BB-CC3A-3F6D-B14E-F63BD8D0A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AB9E0-4182-F1D6-7399-7C142DDE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BA37D-D4EF-41C8-AF51-52304E5B5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7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4C16-56B4-1DF0-A7C0-A861E546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 and analyzing recursive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D3C66-9C3D-A0DD-6447-45FD6CEF1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</p:txBody>
      </p:sp>
    </p:spTree>
    <p:extLst>
      <p:ext uri="{BB962C8B-B14F-4D97-AF65-F5344CB8AC3E}">
        <p14:creationId xmlns:p14="http://schemas.microsoft.com/office/powerpoint/2010/main" val="211689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58E6-1C65-D43D-3BAA-C2796C3E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Recursion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4B5B9-EA0A-CCEA-C7CC-3C5595C35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Recursion is a programming technique in which a function calls itself directly or indirectly to solve a problem.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Break a large problem into smaller subproblems of the same type until a base case is reached.</a:t>
            </a:r>
          </a:p>
          <a:p>
            <a:r>
              <a:rPr lang="en-US" b="1" dirty="0"/>
              <a:t>Two Essential Parts of Recursion:</a:t>
            </a:r>
            <a:endParaRPr lang="en-US" dirty="0"/>
          </a:p>
          <a:p>
            <a:pPr lvl="1"/>
            <a:r>
              <a:rPr lang="en-US" b="1" dirty="0"/>
              <a:t>Base Case</a:t>
            </a:r>
            <a:r>
              <a:rPr lang="en-US" dirty="0"/>
              <a:t> – condition under which recursion stops.</a:t>
            </a:r>
          </a:p>
          <a:p>
            <a:pPr lvl="1"/>
            <a:r>
              <a:rPr lang="en-US" b="1" dirty="0"/>
              <a:t>Recursive Case</a:t>
            </a:r>
            <a:r>
              <a:rPr lang="en-US" dirty="0"/>
              <a:t> – function calls itself with a smaller/simpler input.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6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B8B-DF8B-E3D4-981F-6563DFB1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Recursion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A6F70-A149-BAC4-BDBF-1B74BDC8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 1: Factorial</a:t>
            </a:r>
          </a:p>
          <a:p>
            <a:pPr marL="0" indent="0">
              <a:buNone/>
            </a:pPr>
            <a:r>
              <a:rPr lang="en-US" dirty="0"/>
              <a:t>def factorial(n):</a:t>
            </a:r>
          </a:p>
          <a:p>
            <a:pPr marL="0" indent="0">
              <a:buNone/>
            </a:pPr>
            <a:r>
              <a:rPr lang="en-US" dirty="0"/>
              <a:t>    if n == 0 or n == 1:   # Base case</a:t>
            </a:r>
          </a:p>
          <a:p>
            <a:pPr marL="0" indent="0">
              <a:buNone/>
            </a:pPr>
            <a:r>
              <a:rPr lang="en-US" dirty="0"/>
              <a:t>        return 1</a:t>
            </a:r>
          </a:p>
          <a:p>
            <a:pPr marL="0" indent="0">
              <a:buNone/>
            </a:pPr>
            <a:r>
              <a:rPr lang="en-US" dirty="0"/>
              <a:t>    return n * factorial(n-1)  # Recursive case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7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7452-B298-790A-086A-5088E0D9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Fibonacci Sequence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5E658-4158-F64D-D04B-B2C50296E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fibonacci</a:t>
            </a:r>
            <a:r>
              <a:rPr lang="en-US" dirty="0"/>
              <a:t>(n):</a:t>
            </a:r>
          </a:p>
          <a:p>
            <a:pPr marL="0" indent="0">
              <a:buNone/>
            </a:pPr>
            <a:r>
              <a:rPr lang="en-US" dirty="0"/>
              <a:t>    if n == 0: return 0</a:t>
            </a:r>
          </a:p>
          <a:p>
            <a:pPr marL="0" indent="0">
              <a:buNone/>
            </a:pPr>
            <a:r>
              <a:rPr lang="en-US" dirty="0"/>
              <a:t>    if n == 1: return 1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fibonacci</a:t>
            </a:r>
            <a:r>
              <a:rPr lang="en-US" dirty="0"/>
              <a:t>(n-1) + </a:t>
            </a:r>
            <a:r>
              <a:rPr lang="en-US" dirty="0" err="1"/>
              <a:t>fibonacci</a:t>
            </a:r>
            <a:r>
              <a:rPr lang="en-US" dirty="0"/>
              <a:t>(n-2)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8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48FA-EADA-5362-04D5-28718258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Binary Search (Recursive)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45F8-F124-0F73-1351-9329EBD21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binary_search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low, high, x):</a:t>
            </a:r>
          </a:p>
          <a:p>
            <a:pPr marL="0" indent="0">
              <a:buNone/>
            </a:pPr>
            <a:r>
              <a:rPr lang="en-US" dirty="0"/>
              <a:t>    if low &gt; high:</a:t>
            </a:r>
          </a:p>
          <a:p>
            <a:pPr marL="0" indent="0">
              <a:buNone/>
            </a:pPr>
            <a:r>
              <a:rPr lang="en-US" dirty="0"/>
              <a:t>        return -1</a:t>
            </a:r>
          </a:p>
          <a:p>
            <a:pPr marL="0" indent="0">
              <a:buNone/>
            </a:pPr>
            <a:r>
              <a:rPr lang="en-US" dirty="0"/>
              <a:t>    mid = (low + high) // 2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arr</a:t>
            </a:r>
            <a:r>
              <a:rPr lang="en-US" dirty="0"/>
              <a:t>[mid] == x:</a:t>
            </a:r>
          </a:p>
          <a:p>
            <a:pPr marL="0" indent="0">
              <a:buNone/>
            </a:pPr>
            <a:r>
              <a:rPr lang="en-US" dirty="0"/>
              <a:t>        return mid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[mid] &gt; x: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binary_search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low, mid-1, x)</a:t>
            </a:r>
          </a:p>
          <a:p>
            <a:pPr marL="0" indent="0">
              <a:buNone/>
            </a:pPr>
            <a:r>
              <a:rPr lang="en-US" dirty="0"/>
              <a:t>    else: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binary_search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mid+1, high, x)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69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61BB-41C5-F44B-8758-B15CD8B0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Recursion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4FD0-83B2-520E-0567-B4612EB65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Direct Recursion</a:t>
            </a:r>
            <a:r>
              <a:rPr lang="en-US" dirty="0"/>
              <a:t> – function calls itself.</a:t>
            </a:r>
          </a:p>
          <a:p>
            <a:r>
              <a:rPr lang="en-US" b="1" dirty="0"/>
              <a:t>Indirect Recursion</a:t>
            </a:r>
            <a:r>
              <a:rPr lang="en-US" dirty="0"/>
              <a:t> – function A calls function B, which calls function A.</a:t>
            </a:r>
          </a:p>
          <a:p>
            <a:r>
              <a:rPr lang="en-US" b="1" dirty="0"/>
              <a:t>Tail Recursion</a:t>
            </a:r>
            <a:r>
              <a:rPr lang="en-US" dirty="0"/>
              <a:t> – recursive call is the last statement in the function.</a:t>
            </a:r>
          </a:p>
          <a:p>
            <a:r>
              <a:rPr lang="en-US" b="1" dirty="0"/>
              <a:t>Non-Tail Recursion</a:t>
            </a:r>
            <a:r>
              <a:rPr lang="en-US" dirty="0"/>
              <a:t> – recursive call is followed by some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86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DB07-970C-9554-1C58-07832CA48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Recursive Algorithms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E715F-BC5F-C1E9-1A73-64C3C986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recursive algorithms, we often use </a:t>
            </a:r>
            <a:r>
              <a:rPr lang="en-US" b="1" dirty="0"/>
              <a:t>Recurrence Relations</a:t>
            </a:r>
            <a:r>
              <a:rPr lang="en-US" dirty="0"/>
              <a:t>.</a:t>
            </a:r>
          </a:p>
          <a:p>
            <a:r>
              <a:rPr lang="en-US" b="1" dirty="0"/>
              <a:t>4.1. What is a Recurrence Relation?</a:t>
            </a:r>
          </a:p>
          <a:p>
            <a:r>
              <a:rPr lang="en-US" dirty="0"/>
              <a:t>A recurrence relation expresses the time complexity of a recursive function in terms of its smaller inputs.</a:t>
            </a:r>
          </a:p>
          <a:p>
            <a:r>
              <a:rPr lang="en-US" b="1" dirty="0"/>
              <a:t>Example (Factorial):</a:t>
            </a:r>
            <a:endParaRPr lang="en-US" dirty="0"/>
          </a:p>
          <a:p>
            <a:r>
              <a:rPr lang="en-US" dirty="0"/>
              <a:t>T(n) = T(n-1) + O(1)</a:t>
            </a:r>
          </a:p>
          <a:p>
            <a:r>
              <a:rPr lang="en-US" dirty="0"/>
              <a:t>Solution: T(n) =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6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32EC-F68A-7CCF-6E00-8A321272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Example (Fibonacci – naive recursion):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BACE-E1B3-0182-93AE-FA48A2EF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T(n) = T(n-1) + T(n-2) + O(1)</a:t>
            </a:r>
          </a:p>
          <a:p>
            <a:r>
              <a:rPr lang="pt-BR" dirty="0"/>
              <a:t>Solution: T(n) = O(2^n)</a:t>
            </a:r>
          </a:p>
          <a:p>
            <a:r>
              <a:rPr lang="pt-BR" b="1" dirty="0"/>
              <a:t>Example (Binary Search):</a:t>
            </a:r>
            <a:endParaRPr lang="pt-BR" dirty="0"/>
          </a:p>
          <a:p>
            <a:r>
              <a:rPr lang="pt-BR" dirty="0"/>
              <a:t>T(n) = T(n/2) + O(1)</a:t>
            </a:r>
          </a:p>
          <a:p>
            <a:r>
              <a:rPr lang="pt-BR" dirty="0"/>
              <a:t>Solution: T(n) = O(log 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74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1402-EB8C-2C89-7139-56C2E1EE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General Techniques to Solve Recurrence Relations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A9766-BA2E-DDD5-CD9A-B015CBF9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Substitution Method</a:t>
            </a:r>
            <a:r>
              <a:rPr lang="en-US" dirty="0"/>
              <a:t> – guess a solution and prove by induction.</a:t>
            </a:r>
          </a:p>
          <a:p>
            <a:r>
              <a:rPr lang="en-US" b="1" dirty="0"/>
              <a:t>Recursion Tree Method</a:t>
            </a:r>
            <a:r>
              <a:rPr lang="en-US" dirty="0"/>
              <a:t> – expand the recurrence tree and sum costs at each level.</a:t>
            </a:r>
          </a:p>
          <a:p>
            <a:r>
              <a:rPr lang="en-US" b="1" dirty="0"/>
              <a:t>Master Theorem</a:t>
            </a:r>
            <a:r>
              <a:rPr lang="en-US" dirty="0"/>
              <a:t> – directly apply formula for divide-and-conquer recurrences:</a:t>
            </a:r>
          </a:p>
          <a:p>
            <a:r>
              <a:rPr lang="en-US" dirty="0"/>
              <a:t>For T(n) = </a:t>
            </a:r>
            <a:r>
              <a:rPr lang="en-US" dirty="0" err="1"/>
              <a:t>aT</a:t>
            </a:r>
            <a:r>
              <a:rPr lang="en-US" dirty="0"/>
              <a:t>(n/b) + f(n):</a:t>
            </a:r>
          </a:p>
          <a:p>
            <a:r>
              <a:rPr lang="en-US" dirty="0"/>
              <a:t>If f(n) = O(</a:t>
            </a:r>
            <a:r>
              <a:rPr lang="en-US" dirty="0" err="1"/>
              <a:t>n^log_b</a:t>
            </a:r>
            <a:r>
              <a:rPr lang="en-US" dirty="0"/>
              <a:t>(a) - </a:t>
            </a:r>
            <a:r>
              <a:rPr lang="el-GR" dirty="0"/>
              <a:t>ε) → </a:t>
            </a:r>
            <a:r>
              <a:rPr lang="en-US" dirty="0"/>
              <a:t>T(n) = </a:t>
            </a:r>
            <a:r>
              <a:rPr lang="el-GR" dirty="0"/>
              <a:t>Θ(</a:t>
            </a:r>
            <a:r>
              <a:rPr lang="en-US" dirty="0" err="1"/>
              <a:t>n^log_b</a:t>
            </a:r>
            <a:r>
              <a:rPr lang="en-US" dirty="0"/>
              <a:t>(a))</a:t>
            </a:r>
          </a:p>
          <a:p>
            <a:r>
              <a:rPr lang="en-US" dirty="0"/>
              <a:t>If f(n) = </a:t>
            </a:r>
            <a:r>
              <a:rPr lang="el-GR" dirty="0"/>
              <a:t>Θ(</a:t>
            </a:r>
            <a:r>
              <a:rPr lang="en-US" dirty="0" err="1"/>
              <a:t>n^log_b</a:t>
            </a:r>
            <a:r>
              <a:rPr lang="en-US" dirty="0"/>
              <a:t>(a)) → T(n) = </a:t>
            </a:r>
            <a:r>
              <a:rPr lang="el-GR" dirty="0"/>
              <a:t>Θ(</a:t>
            </a:r>
            <a:r>
              <a:rPr lang="en-US" dirty="0" err="1"/>
              <a:t>n^log_b</a:t>
            </a:r>
            <a:r>
              <a:rPr lang="en-US" dirty="0"/>
              <a:t>(a) * log n)</a:t>
            </a:r>
          </a:p>
          <a:p>
            <a:r>
              <a:rPr lang="en-US" dirty="0"/>
              <a:t>If f(n) = </a:t>
            </a:r>
            <a:r>
              <a:rPr lang="el-GR" dirty="0"/>
              <a:t>Ω(</a:t>
            </a:r>
            <a:r>
              <a:rPr lang="en-US" dirty="0" err="1"/>
              <a:t>n^log_b</a:t>
            </a:r>
            <a:r>
              <a:rPr lang="en-US" dirty="0"/>
              <a:t>(a) + </a:t>
            </a:r>
            <a:r>
              <a:rPr lang="el-GR" dirty="0"/>
              <a:t>ε) → </a:t>
            </a:r>
            <a:r>
              <a:rPr lang="en-US" dirty="0"/>
              <a:t>T(n) = </a:t>
            </a:r>
            <a:r>
              <a:rPr lang="el-GR" dirty="0"/>
              <a:t>Θ(</a:t>
            </a:r>
            <a:r>
              <a:rPr lang="en-US" dirty="0"/>
              <a:t>f(n)) (regularity condition required)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01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A73E-F08D-49BB-04E3-EABBEDA6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&amp; Disadvantages of Recursion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6849-F30C-C6D7-02B4-33E7E9DC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Code simplicity, elegance, easier to express problems.</a:t>
            </a:r>
          </a:p>
          <a:p>
            <a:r>
              <a:rPr lang="en-US" dirty="0"/>
              <a:t>Natural for divide-and-conquer algorithms (merge sort, quicksort, binary search).</a:t>
            </a:r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Higher memory usage due to function call stack.</a:t>
            </a:r>
          </a:p>
          <a:p>
            <a:r>
              <a:rPr lang="en-US" dirty="0"/>
              <a:t>May lead to performance issues if not optimized (e.g., naive Fibonacci).</a:t>
            </a:r>
          </a:p>
          <a:p>
            <a:r>
              <a:rPr lang="en-US" dirty="0"/>
              <a:t>Iterative solutions may be more efficient in some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4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8B64-992C-4251-AC90-AF5F8503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Practice Problems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DC63-E7A8-C00C-F03B-10F5B5F3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recursive function to reverse a string.</a:t>
            </a:r>
          </a:p>
          <a:p>
            <a:r>
              <a:rPr lang="en-US" dirty="0"/>
              <a:t>Solve Tower of Hanoi using recursion.</a:t>
            </a:r>
          </a:p>
          <a:p>
            <a:r>
              <a:rPr lang="en-US" dirty="0"/>
              <a:t>Derive time complexity for recursive Merge Sort.</a:t>
            </a:r>
          </a:p>
          <a:p>
            <a:r>
              <a:rPr lang="en-US" dirty="0"/>
              <a:t>Implement recursive GCD (Euclidean Algorithm).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33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713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Recursion and analyzing recursive algorithms</vt:lpstr>
      <vt:lpstr>Introduction to Recursion </vt:lpstr>
      <vt:lpstr>Examples of Recursion </vt:lpstr>
      <vt:lpstr>Fibonacci Sequence </vt:lpstr>
      <vt:lpstr>Binary Search (Recursive) </vt:lpstr>
      <vt:lpstr>Types of Recursion </vt:lpstr>
      <vt:lpstr>Analyzing Recursive Algorithms </vt:lpstr>
      <vt:lpstr>Example (Fibonacci – naive recursion): </vt:lpstr>
      <vt:lpstr>General Techniques to Solve Recurrence Relations </vt:lpstr>
      <vt:lpstr>Advantages &amp; Disadvantages of Recursion </vt:lpstr>
      <vt:lpstr>Practice Problems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17</cp:revision>
  <dcterms:created xsi:type="dcterms:W3CDTF">2025-09-16T08:08:40Z</dcterms:created>
  <dcterms:modified xsi:type="dcterms:W3CDTF">2025-09-16T08:11:27Z</dcterms:modified>
</cp:coreProperties>
</file>