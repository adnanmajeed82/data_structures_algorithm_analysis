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BD04-B925-11A7-4856-851110D04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EF71F-7632-A7AA-470A-C3D02ED9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A8093-0779-8DCA-7F01-25FF82640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F533-EFC6-B534-B0EC-C797C015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0E4E9-4A33-EE7D-19BC-54769A8E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6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C721-6CE6-01D4-071E-2D9287B8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8BEA-99D1-FAD8-7B39-920F0AB1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F0061-5B63-265E-8C2C-27C3315F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232CC-6B82-7139-0A95-A166BDA2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31BC1-BE61-0C03-5DC4-B4DF12E6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CB8A-610E-F767-1D00-E80A4C7D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96F7D-8D4B-C043-671E-B3349A4F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0724-1808-412F-867F-4E3B267B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3631-0968-1504-9427-81B26AF6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AC8EB-42B0-0C74-F147-0901AD5A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3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1A53-F682-C9BC-6945-133067C0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CBD5-AAF3-3FF3-962A-F184CB23D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17B8B-B97A-608F-51DA-B2E245B4A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9D705-D054-DB95-87D8-A132FE0F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CDA70-C58C-FD05-097D-D3A5A89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B6C45-08CE-42BC-091B-B03F5059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FA7D-BE6B-F33C-3DAB-DBB82E7F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91B42-4877-FBAE-4952-47832BDC0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F808E-899D-83E4-6FE9-828687F32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9E2D2-6A67-DE58-0BBC-A7168FA01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29BCB-49C3-2975-C9F0-CD4B54419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F9903-4B2A-13E2-74D6-A7B08AA5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0F658-7275-8234-A51A-59083AD1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99F56-2821-60F8-2A2E-A58B19CC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3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3030-1A84-EB21-E353-BEDB3CBB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CE10A-8559-8FB0-DE42-E648D593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A9A11-4323-B94F-25B5-14F46459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AC300-7BE4-FEAF-065F-C28FA1D3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4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A1D61-905D-2212-C85C-2209BFEC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EC55B-15CC-1466-0649-F7268826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A229D-3393-DCFB-062F-ED7C1D58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4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A396-1A44-BFA9-A4DA-093B2DC67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CE780-4535-302C-FA15-155464FD4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E62AD-29B1-3046-D9D9-4A86EE97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CCE0A-00FB-503D-D59C-4377616A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89E34-DBFD-58D7-6861-03E606F5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29992-7011-0564-3BB0-63EC01BD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0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1CE7-7E72-A4B2-121F-6FF680F7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253BB-4C67-FF19-5636-DAF93B1C9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BA8AA-BB2A-F888-391D-7C6EF28CE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1889B-5CD2-B746-03CE-C09BAF38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BD697-84DA-2ABD-1787-555156A6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3C776-7512-FA60-D5AA-E2BC217C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2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8F657-9AA3-3889-1505-B377F877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95BD-E2BC-BEF7-D5BE-AD323C5E0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0C547-260E-99C7-38C2-7847C709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B8CE-21EA-04FA-D027-DDF4CBB9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74420-0476-FC7D-D34A-D2A09965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5C94D-9C5B-B433-39FC-4595E4387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6EB6D-6D27-BE97-2A7B-722178BB3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CC8B-6C3D-D1EB-607D-3DE93E82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BD6A-03FE-04F8-4522-BF6BC348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98DE-5D63-E746-E32C-535B0E1F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3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09D39-0770-0736-8A83-EE6A72B8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BB08E-A850-AA54-27F9-5A49614D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305C-13A4-9E9A-827F-B7E5C0295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0CC6C-E9AC-489E-8A34-48FBF9F553BF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591A-4B24-1CE4-57D9-378B7C86D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AA47-F771-CA1B-2EF7-457DB613E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CEACE-565F-496E-AD8D-769E0B98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9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532D-7E3A-1222-6455-7EFE2BA74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147" y="1164654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Divide and Conquer Algorithm &amp; 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8AE3F-6C0B-05C0-139C-4D80C6666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</p:txBody>
      </p:sp>
    </p:spTree>
    <p:extLst>
      <p:ext uri="{BB962C8B-B14F-4D97-AF65-F5344CB8AC3E}">
        <p14:creationId xmlns:p14="http://schemas.microsoft.com/office/powerpoint/2010/main" val="243366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15A9-7941-E3F1-BEF4-7BADF972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Divide and Conquer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372F3-0B62-86EE-FA66-F161DAD78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Divide and Conquer is a problem-solving strategy that breaks a problem into smaller sub-problems, solves them independently, and then combines their solutions.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1"/>
            <a:r>
              <a:rPr lang="en-US" b="1" dirty="0"/>
              <a:t>Divide:</a:t>
            </a:r>
            <a:r>
              <a:rPr lang="en-US" dirty="0"/>
              <a:t> Break the problem into smaller sub-problems.</a:t>
            </a:r>
          </a:p>
          <a:p>
            <a:pPr lvl="1"/>
            <a:r>
              <a:rPr lang="en-US" b="1" dirty="0"/>
              <a:t>Conquer:</a:t>
            </a:r>
            <a:r>
              <a:rPr lang="en-US" dirty="0"/>
              <a:t> Solve each sub-problem (recursively if needed).</a:t>
            </a:r>
          </a:p>
          <a:p>
            <a:pPr lvl="1"/>
            <a:r>
              <a:rPr lang="en-US" b="1" dirty="0"/>
              <a:t>Combine:</a:t>
            </a:r>
            <a:r>
              <a:rPr lang="en-US" dirty="0"/>
              <a:t> Merge the solutions of sub-problems into the final answer.</a:t>
            </a:r>
          </a:p>
          <a:p>
            <a:r>
              <a:rPr lang="en-US" b="1" dirty="0"/>
              <a:t>Applications:</a:t>
            </a:r>
            <a:endParaRPr lang="en-US" dirty="0"/>
          </a:p>
          <a:p>
            <a:pPr lvl="1"/>
            <a:r>
              <a:rPr lang="en-US" dirty="0"/>
              <a:t>Sorting algorithms (Merge Sort, Quick Sort)</a:t>
            </a:r>
          </a:p>
          <a:p>
            <a:pPr lvl="1"/>
            <a:r>
              <a:rPr lang="en-US" dirty="0"/>
              <a:t>Binary Search</a:t>
            </a:r>
          </a:p>
          <a:p>
            <a:pPr lvl="1"/>
            <a:r>
              <a:rPr lang="en-US" dirty="0"/>
              <a:t>Matrix Multiplication (Strassen’s Algorithm)</a:t>
            </a:r>
          </a:p>
          <a:p>
            <a:pPr lvl="1"/>
            <a:r>
              <a:rPr lang="en-US" dirty="0"/>
              <a:t>Computational Geometry (Closest Pair of Points)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8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B977-1ED8-5797-9BAB-8437BE86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Binary Search (Divide and Conquer)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21509-B98C-3219-5423-A9A2F93E7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 Find an element in a sorted array.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1"/>
            <a:r>
              <a:rPr lang="en-US" dirty="0"/>
              <a:t>Divide: Find the middle element.</a:t>
            </a:r>
          </a:p>
          <a:p>
            <a:pPr lvl="1"/>
            <a:r>
              <a:rPr lang="en-US" dirty="0"/>
              <a:t>Conquer:</a:t>
            </a:r>
          </a:p>
          <a:p>
            <a:pPr lvl="2"/>
            <a:r>
              <a:rPr lang="en-US" dirty="0"/>
              <a:t>If middle = target → Found.</a:t>
            </a:r>
          </a:p>
          <a:p>
            <a:pPr lvl="2"/>
            <a:r>
              <a:rPr lang="en-US" dirty="0"/>
              <a:t>If target &lt; middle → Search in left half.</a:t>
            </a:r>
          </a:p>
          <a:p>
            <a:pPr lvl="2"/>
            <a:r>
              <a:rPr lang="en-US" dirty="0"/>
              <a:t>If target &gt; middle → Search in right half.</a:t>
            </a:r>
          </a:p>
          <a:p>
            <a:pPr lvl="1"/>
            <a:r>
              <a:rPr lang="en-US" dirty="0"/>
              <a:t>Combine: Only one half contains the solution.</a:t>
            </a:r>
          </a:p>
          <a:p>
            <a:r>
              <a:rPr lang="en-US" b="1" dirty="0"/>
              <a:t>Time Complexity:</a:t>
            </a:r>
            <a:r>
              <a:rPr lang="en-US" dirty="0"/>
              <a:t> O(log 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66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1AB6-BF98-AA8D-06F2-F021B1CE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Sorting Algorithms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2348-90A8-5C45-FE7B-E56DFD4B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Sorting is the process of arranging data in ascending or descending order.</a:t>
            </a:r>
          </a:p>
          <a:p>
            <a:r>
              <a:rPr lang="en-US" b="1" dirty="0"/>
              <a:t>(a) Merge Sort (Divide &amp; Conquer)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Divide the array into two halves.</a:t>
            </a:r>
          </a:p>
          <a:p>
            <a:pPr lvl="1"/>
            <a:r>
              <a:rPr lang="en-US" dirty="0"/>
              <a:t>Recursively sort both halves.</a:t>
            </a:r>
          </a:p>
          <a:p>
            <a:pPr lvl="1"/>
            <a:r>
              <a:rPr lang="en-US" dirty="0"/>
              <a:t>Merge the sorted halves.</a:t>
            </a:r>
          </a:p>
          <a:p>
            <a:r>
              <a:rPr lang="en-US" b="1" dirty="0"/>
              <a:t>Complexity:</a:t>
            </a:r>
            <a:endParaRPr lang="en-US" dirty="0"/>
          </a:p>
          <a:p>
            <a:pPr lvl="1"/>
            <a:r>
              <a:rPr lang="en-US" dirty="0"/>
              <a:t>Best Case: O(n log n)</a:t>
            </a:r>
          </a:p>
          <a:p>
            <a:pPr lvl="1"/>
            <a:r>
              <a:rPr lang="en-US" dirty="0"/>
              <a:t>Worst Case: O(n log n)</a:t>
            </a:r>
          </a:p>
          <a:p>
            <a:pPr lvl="1"/>
            <a:r>
              <a:rPr lang="en-US" dirty="0"/>
              <a:t>Stable Sort 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17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9CC0-2039-EC7A-10B1-6821B6F4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 (Divide &amp; Conquer)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7543-8747-4285-3E6C-8DA96BA5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Select a </a:t>
            </a:r>
            <a:r>
              <a:rPr lang="en-US" b="1" dirty="0"/>
              <a:t>pivot</a:t>
            </a:r>
            <a:r>
              <a:rPr lang="en-US" dirty="0"/>
              <a:t> element.</a:t>
            </a:r>
          </a:p>
          <a:p>
            <a:pPr lvl="1"/>
            <a:r>
              <a:rPr lang="en-US" dirty="0"/>
              <a:t>Partition the array → elements smaller than pivot on left, greater on right.</a:t>
            </a:r>
          </a:p>
          <a:p>
            <a:pPr lvl="1"/>
            <a:r>
              <a:rPr lang="en-US" dirty="0"/>
              <a:t>Recursively sort left and right sub-arrays.</a:t>
            </a:r>
          </a:p>
          <a:p>
            <a:r>
              <a:rPr lang="en-US" b="1" dirty="0"/>
              <a:t>Complexity:</a:t>
            </a:r>
            <a:endParaRPr lang="en-US" dirty="0"/>
          </a:p>
          <a:p>
            <a:pPr lvl="1"/>
            <a:r>
              <a:rPr lang="en-US" dirty="0"/>
              <a:t>Best Case: O(n log n)</a:t>
            </a:r>
          </a:p>
          <a:p>
            <a:pPr lvl="1"/>
            <a:r>
              <a:rPr lang="en-US" dirty="0"/>
              <a:t>Average Case: O(n log n)</a:t>
            </a:r>
          </a:p>
          <a:p>
            <a:pPr lvl="1"/>
            <a:r>
              <a:rPr lang="en-US" dirty="0"/>
              <a:t>Worst Case: O(n²) (when pivot is poorly chosen)</a:t>
            </a:r>
          </a:p>
          <a:p>
            <a:pPr lvl="1"/>
            <a:r>
              <a:rPr lang="en-US" dirty="0"/>
              <a:t>Not stable 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4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9E86-EAFE-1205-2A33-BB1E844B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Sorting Algorithms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F709-3306-99FF-C3C6-0368AC09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Bubble Sort</a:t>
            </a:r>
            <a:endParaRPr lang="en-US" dirty="0"/>
          </a:p>
          <a:p>
            <a:pPr lvl="1"/>
            <a:r>
              <a:rPr lang="en-US" dirty="0"/>
              <a:t>Repeatedly swap adjacent elements if they are in the wrong order.</a:t>
            </a:r>
          </a:p>
          <a:p>
            <a:pPr lvl="1"/>
            <a:r>
              <a:rPr lang="en-US" dirty="0"/>
              <a:t>Complexity: O(n²)</a:t>
            </a:r>
          </a:p>
          <a:p>
            <a:pPr lvl="1"/>
            <a:r>
              <a:rPr lang="en-US" dirty="0"/>
              <a:t>Simple but inefficient.</a:t>
            </a:r>
          </a:p>
          <a:p>
            <a:r>
              <a:rPr lang="en-US" b="1" dirty="0"/>
              <a:t>Selection Sort</a:t>
            </a:r>
            <a:endParaRPr lang="en-US" dirty="0"/>
          </a:p>
          <a:p>
            <a:pPr lvl="1"/>
            <a:r>
              <a:rPr lang="en-US" dirty="0"/>
              <a:t>Repeatedly select the smallest element and place it in order.</a:t>
            </a:r>
          </a:p>
          <a:p>
            <a:pPr lvl="1"/>
            <a:r>
              <a:rPr lang="en-US" dirty="0"/>
              <a:t>Complexity: O(n²)</a:t>
            </a:r>
          </a:p>
          <a:p>
            <a:r>
              <a:rPr lang="en-US" b="1" dirty="0"/>
              <a:t>Insertion Sort</a:t>
            </a:r>
            <a:endParaRPr lang="en-US" dirty="0"/>
          </a:p>
          <a:p>
            <a:pPr lvl="1"/>
            <a:r>
              <a:rPr lang="en-US" dirty="0"/>
              <a:t>Insert elements one by one into their correct position.</a:t>
            </a:r>
          </a:p>
          <a:p>
            <a:pPr lvl="1"/>
            <a:r>
              <a:rPr lang="en-US" dirty="0"/>
              <a:t>Complexity:</a:t>
            </a:r>
          </a:p>
          <a:p>
            <a:pPr lvl="2"/>
            <a:r>
              <a:rPr lang="en-US" dirty="0"/>
              <a:t>Best Case: O(n) (already sorted)</a:t>
            </a:r>
          </a:p>
          <a:p>
            <a:pPr lvl="2"/>
            <a:r>
              <a:rPr lang="en-US" dirty="0"/>
              <a:t>Worst Case: O(n²)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2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2B39-55D4-4AEE-6A0E-0D03519D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906"/>
            <a:ext cx="10515600" cy="1325563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Comparison of Sorting Algorithms</a:t>
            </a:r>
            <a:br>
              <a:rPr lang="en-US" altLang="en-US" b="1" dirty="0">
                <a:latin typeface="Arial" panose="020B0604020202020204" pitchFamily="34" charset="0"/>
              </a:rPr>
            </a:br>
            <a:b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4AB970-404B-5A6C-E538-A92AEB0CDE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397841"/>
              </p:ext>
            </p:extLst>
          </p:nvPr>
        </p:nvGraphicFramePr>
        <p:xfrm>
          <a:off x="838200" y="1690688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3312959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250091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523587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5431704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71297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08824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1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Bubble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022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Selection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8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Insertion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40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Merge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Divide &amp; Conquer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4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Quick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Divide &amp; Conquer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46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2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861F-9006-A993-41C0-20909A07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6A89-3A6D-1247-5644-B7D177288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Divide and Conquer</a:t>
            </a:r>
            <a:r>
              <a:rPr lang="en-US" dirty="0"/>
              <a:t> helps in breaking down complex problems.</a:t>
            </a:r>
          </a:p>
          <a:p>
            <a:r>
              <a:rPr lang="en-US" b="1" dirty="0"/>
              <a:t>Merge Sort</a:t>
            </a:r>
            <a:r>
              <a:rPr lang="en-US" dirty="0"/>
              <a:t> is reliable with guaranteed O(n log n).</a:t>
            </a:r>
          </a:p>
          <a:p>
            <a:r>
              <a:rPr lang="en-US" b="1" dirty="0"/>
              <a:t>Quick Sort</a:t>
            </a:r>
            <a:r>
              <a:rPr lang="en-US" dirty="0"/>
              <a:t> is usually faster in practice but risky in worst case.</a:t>
            </a:r>
          </a:p>
          <a:p>
            <a:r>
              <a:rPr lang="en-US" dirty="0"/>
              <a:t>Simpler algorithms (Bubble, Selection, Insertion) are useful for small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82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FAB0-237B-C3B7-AEA4-46E85B34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84C0-03AB-0E25-D2F6-A76679953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131" y="1570792"/>
            <a:ext cx="10515600" cy="48000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def insertion_sort(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range(1,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)):</a:t>
            </a:r>
          </a:p>
          <a:p>
            <a:pPr marL="0" indent="0">
              <a:buNone/>
            </a:pPr>
            <a:r>
              <a:rPr lang="en-US" dirty="0"/>
              <a:t>        key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    j = </a:t>
            </a:r>
            <a:r>
              <a:rPr lang="en-US" dirty="0" err="1"/>
              <a:t>i</a:t>
            </a:r>
            <a:r>
              <a:rPr lang="en-US" dirty="0"/>
              <a:t> - 1</a:t>
            </a:r>
          </a:p>
          <a:p>
            <a:pPr marL="0" indent="0">
              <a:buNone/>
            </a:pPr>
            <a:r>
              <a:rPr lang="en-US" dirty="0"/>
              <a:t>        while j &gt;= 0 and </a:t>
            </a:r>
            <a:r>
              <a:rPr lang="en-US" dirty="0" err="1"/>
              <a:t>arr</a:t>
            </a:r>
            <a:r>
              <a:rPr lang="en-US" dirty="0"/>
              <a:t>[j] &gt; key: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[j + 1] = </a:t>
            </a:r>
            <a:r>
              <a:rPr lang="en-US" dirty="0" err="1"/>
              <a:t>arr</a:t>
            </a:r>
            <a:r>
              <a:rPr lang="en-US" dirty="0"/>
              <a:t>[j]</a:t>
            </a:r>
          </a:p>
          <a:p>
            <a:pPr marL="0" indent="0">
              <a:buNone/>
            </a:pPr>
            <a:r>
              <a:rPr lang="en-US" dirty="0"/>
              <a:t>            j -= 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[j + 1] = key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arr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</a:t>
            </a:r>
          </a:p>
          <a:p>
            <a:pPr marL="0" indent="0">
              <a:buNone/>
            </a:pPr>
            <a:r>
              <a:rPr lang="en-US" dirty="0"/>
              <a:t>data = [9, 5, 1, 4, 3]</a:t>
            </a:r>
          </a:p>
          <a:p>
            <a:pPr marL="0" indent="0">
              <a:buNone/>
            </a:pPr>
            <a:r>
              <a:rPr lang="en-US" dirty="0"/>
              <a:t>print("Sorted:", insertion_sort(data))</a:t>
            </a:r>
          </a:p>
        </p:txBody>
      </p:sp>
    </p:spTree>
    <p:extLst>
      <p:ext uri="{BB962C8B-B14F-4D97-AF65-F5344CB8AC3E}">
        <p14:creationId xmlns:p14="http://schemas.microsoft.com/office/powerpoint/2010/main" val="308853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9AD3-27F8-4F1D-445E-C103A39F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  <a:r>
              <a:rPr lang="en-US" dirty="0"/>
              <a:t> 👇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1F9FB-EA47-D3EC-9355-3A05C7EC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890"/>
            <a:ext cx="10515600" cy="4635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quick_sort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&lt;= 1: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arr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pivot = </a:t>
            </a:r>
            <a:r>
              <a:rPr lang="en-US" dirty="0" err="1"/>
              <a:t>arr</a:t>
            </a:r>
            <a:r>
              <a:rPr lang="en-US" dirty="0"/>
              <a:t>[0]   # choose first element as pivot</a:t>
            </a:r>
          </a:p>
          <a:p>
            <a:pPr marL="0" indent="0">
              <a:buNone/>
            </a:pPr>
            <a:r>
              <a:rPr lang="en-US" dirty="0"/>
              <a:t>    left  = [x for x in </a:t>
            </a:r>
            <a:r>
              <a:rPr lang="en-US" dirty="0" err="1"/>
              <a:t>arr</a:t>
            </a:r>
            <a:r>
              <a:rPr lang="en-US" dirty="0"/>
              <a:t>[1:] if x &lt;= pivot]</a:t>
            </a:r>
          </a:p>
          <a:p>
            <a:pPr marL="0" indent="0">
              <a:buNone/>
            </a:pPr>
            <a:r>
              <a:rPr lang="en-US" dirty="0"/>
              <a:t>    right = [x for x in </a:t>
            </a:r>
            <a:r>
              <a:rPr lang="en-US" dirty="0" err="1"/>
              <a:t>arr</a:t>
            </a:r>
            <a:r>
              <a:rPr lang="en-US" dirty="0"/>
              <a:t>[1:] if x &gt; pivot]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quick_sort</a:t>
            </a:r>
            <a:r>
              <a:rPr lang="en-US" dirty="0"/>
              <a:t>(left) + [pivot] + </a:t>
            </a:r>
            <a:r>
              <a:rPr lang="en-US" dirty="0" err="1"/>
              <a:t>quick_sort</a:t>
            </a:r>
            <a:r>
              <a:rPr lang="en-US" dirty="0"/>
              <a:t>(right)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</a:t>
            </a:r>
          </a:p>
          <a:p>
            <a:pPr marL="0" indent="0">
              <a:buNone/>
            </a:pPr>
            <a:r>
              <a:rPr lang="en-US" dirty="0"/>
              <a:t>data = [9, 5, 1, 4, 3]</a:t>
            </a:r>
          </a:p>
          <a:p>
            <a:pPr marL="0" indent="0">
              <a:buNone/>
            </a:pPr>
            <a:r>
              <a:rPr lang="en-US" dirty="0"/>
              <a:t>print("Sorted:", </a:t>
            </a:r>
            <a:r>
              <a:rPr lang="en-US" dirty="0" err="1"/>
              <a:t>quick_sort</a:t>
            </a:r>
            <a:r>
              <a:rPr lang="en-US" dirty="0"/>
              <a:t>(data))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25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776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Divide and Conquer Algorithm &amp; Sorting Algorithms</vt:lpstr>
      <vt:lpstr>Introduction to Divide and Conquer </vt:lpstr>
      <vt:lpstr>Example: Binary Search (Divide and Conquer) </vt:lpstr>
      <vt:lpstr>Sorting Algorithms </vt:lpstr>
      <vt:lpstr>Quick Sort (Divide &amp; Conquer) </vt:lpstr>
      <vt:lpstr>Other Sorting Algorithms </vt:lpstr>
      <vt:lpstr>Comparison of Sorting Algorithms  </vt:lpstr>
      <vt:lpstr>Key Takeaways </vt:lpstr>
      <vt:lpstr>Insertion Sort</vt:lpstr>
      <vt:lpstr>Quick Sort 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19</cp:revision>
  <dcterms:created xsi:type="dcterms:W3CDTF">2025-09-21T18:00:08Z</dcterms:created>
  <dcterms:modified xsi:type="dcterms:W3CDTF">2025-09-21T18:05:04Z</dcterms:modified>
</cp:coreProperties>
</file>